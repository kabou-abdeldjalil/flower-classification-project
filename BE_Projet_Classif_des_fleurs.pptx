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5"/>
  </p:notesMasterIdLst>
  <p:sldIdLst>
    <p:sldId id="277" r:id="rId2"/>
    <p:sldId id="256" r:id="rId3"/>
    <p:sldId id="263" r:id="rId4"/>
    <p:sldId id="264" r:id="rId5"/>
    <p:sldId id="257" r:id="rId6"/>
    <p:sldId id="265" r:id="rId7"/>
    <p:sldId id="267" r:id="rId8"/>
    <p:sldId id="266" r:id="rId9"/>
    <p:sldId id="268" r:id="rId10"/>
    <p:sldId id="269" r:id="rId11"/>
    <p:sldId id="258" r:id="rId12"/>
    <p:sldId id="259" r:id="rId13"/>
    <p:sldId id="260" r:id="rId14"/>
    <p:sldId id="270" r:id="rId15"/>
    <p:sldId id="271" r:id="rId16"/>
    <p:sldId id="261" r:id="rId17"/>
    <p:sldId id="262" r:id="rId18"/>
    <p:sldId id="272" r:id="rId19"/>
    <p:sldId id="273" r:id="rId20"/>
    <p:sldId id="280" r:id="rId21"/>
    <p:sldId id="274" r:id="rId22"/>
    <p:sldId id="275" r:id="rId23"/>
    <p:sldId id="278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bdeldjalil KABOU" initials="AK" lastIdx="1" clrIdx="0">
    <p:extLst>
      <p:ext uri="{19B8F6BF-5375-455C-9EA6-DF929625EA0E}">
        <p15:presenceInfo xmlns:p15="http://schemas.microsoft.com/office/powerpoint/2012/main" userId="4f4fdda6ac17314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CC66"/>
    <a:srgbClr val="00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44664" autoAdjust="0"/>
  </p:normalViewPr>
  <p:slideViewPr>
    <p:cSldViewPr snapToGrid="0">
      <p:cViewPr varScale="1">
        <p:scale>
          <a:sx n="38" d="100"/>
          <a:sy n="38" d="100"/>
        </p:scale>
        <p:origin x="2386" y="4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5">
  <dgm:title val=""/>
  <dgm:desc val=""/>
  <dgm:catLst>
    <dgm:cat type="accent4" pri="11500"/>
  </dgm:catLst>
  <dgm:styleLbl name="node0">
    <dgm:fillClrLst meth="cycle">
      <a:schemeClr val="accent4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alpha val="9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alpha val="90000"/>
      </a:schemeClr>
      <a:schemeClr val="accent4">
        <a:alpha val="5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/>
    <dgm:txEffectClrLst/>
  </dgm:styleLbl>
  <dgm:styleLbl name="lnNode1">
    <dgm:fillClrLst>
      <a:schemeClr val="accent4">
        <a:shade val="90000"/>
      </a:schemeClr>
      <a:schemeClr val="accent4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  <a:alpha val="90000"/>
      </a:schemeClr>
      <a:schemeClr val="accent4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bg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sibTrans1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alpha val="90000"/>
        <a:tint val="40000"/>
      </a:schemeClr>
      <a:schemeClr val="accent4">
        <a:alpha val="5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F48507A-ECA3-4B82-8597-5D8DDA3DAB61}" type="doc">
      <dgm:prSet loTypeId="urn:microsoft.com/office/officeart/2008/layout/VerticalCurvedList" loCatId="list" qsTypeId="urn:microsoft.com/office/officeart/2005/8/quickstyle/simple1" qsCatId="simple" csTypeId="urn:microsoft.com/office/officeart/2005/8/colors/accent4_5" csCatId="accent4" phldr="1"/>
      <dgm:spPr/>
      <dgm:t>
        <a:bodyPr/>
        <a:lstStyle/>
        <a:p>
          <a:endParaRPr lang="fr-FR"/>
        </a:p>
      </dgm:t>
    </dgm:pt>
    <dgm:pt modelId="{6EB6E6FC-FA63-47A6-A0BD-66FD636E6771}">
      <dgm:prSet phldrT="[Texte]" custT="1"/>
      <dgm:spPr>
        <a:solidFill>
          <a:schemeClr val="bg2">
            <a:lumMod val="60000"/>
            <a:lumOff val="40000"/>
            <a:alpha val="50000"/>
          </a:schemeClr>
        </a:solidFill>
        <a:ln>
          <a:solidFill>
            <a:schemeClr val="bg1"/>
          </a:solidFill>
        </a:ln>
      </dgm:spPr>
      <dgm:t>
        <a:bodyPr/>
        <a:lstStyle/>
        <a:p>
          <a:pPr>
            <a:buClrTx/>
            <a:buSzTx/>
            <a:buFontTx/>
            <a:buChar char="•"/>
          </a:pPr>
          <a:r>
            <a:rPr kumimoji="0" lang="fr-FR" altLang="fr-FR" sz="19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rPr>
            <a:t>Sécurité</a:t>
          </a:r>
          <a:r>
            <a:rPr kumimoji="0" lang="fr-FR" altLang="fr-FR" sz="19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rPr>
            <a:t> </a:t>
          </a:r>
          <a:r>
            <a:rPr kumimoji="0" lang="fr-FR" altLang="fr-FR" sz="16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rPr>
            <a:t>(reconnaissance faciale)</a:t>
          </a:r>
          <a:endParaRPr lang="fr-FR" sz="1900" dirty="0"/>
        </a:p>
      </dgm:t>
    </dgm:pt>
    <dgm:pt modelId="{364E95A1-6EC9-4C3A-9714-EF623F144BFD}" type="parTrans" cxnId="{8A8299FA-7926-42BE-8F2D-AB3E13FA6D77}">
      <dgm:prSet/>
      <dgm:spPr/>
      <dgm:t>
        <a:bodyPr/>
        <a:lstStyle/>
        <a:p>
          <a:endParaRPr lang="fr-FR"/>
        </a:p>
      </dgm:t>
    </dgm:pt>
    <dgm:pt modelId="{571CA20E-8C09-4921-91BB-D79125601EF9}" type="sibTrans" cxnId="{8A8299FA-7926-42BE-8F2D-AB3E13FA6D77}">
      <dgm:prSet/>
      <dgm:spPr/>
      <dgm:t>
        <a:bodyPr/>
        <a:lstStyle/>
        <a:p>
          <a:endParaRPr lang="fr-FR"/>
        </a:p>
      </dgm:t>
    </dgm:pt>
    <dgm:pt modelId="{035A4614-9F37-4FC5-9186-16986C14EE45}">
      <dgm:prSet custT="1"/>
      <dgm:spPr>
        <a:solidFill>
          <a:schemeClr val="bg2">
            <a:lumMod val="60000"/>
            <a:lumOff val="40000"/>
            <a:alpha val="90000"/>
          </a:schemeClr>
        </a:solidFill>
        <a:ln>
          <a:solidFill>
            <a:schemeClr val="bg1"/>
          </a:solidFill>
        </a:ln>
      </dgm:spPr>
      <dgm:t>
        <a:bodyPr/>
        <a:lstStyle/>
        <a:p>
          <a:r>
            <a:rPr kumimoji="0" lang="fr-FR" altLang="fr-FR" sz="1900" b="1" i="1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rPr>
            <a:t>Agriculture</a:t>
          </a:r>
          <a:r>
            <a:rPr kumimoji="0" lang="fr-FR" altLang="fr-FR" sz="19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rPr>
            <a:t> </a:t>
          </a:r>
          <a:r>
            <a:rPr kumimoji="0" lang="fr-FR" altLang="fr-FR" sz="16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rPr>
            <a:t>(reconnaissance de maladies des plantes)</a:t>
          </a:r>
          <a:endParaRPr lang="fr-FR" sz="1900" dirty="0"/>
        </a:p>
      </dgm:t>
    </dgm:pt>
    <dgm:pt modelId="{E277A69F-C40B-43EF-A3D4-9F0020FD4F29}" type="parTrans" cxnId="{5A4D3770-625F-4728-A2BF-E28BBE24CD6A}">
      <dgm:prSet/>
      <dgm:spPr/>
      <dgm:t>
        <a:bodyPr/>
        <a:lstStyle/>
        <a:p>
          <a:endParaRPr lang="fr-FR"/>
        </a:p>
      </dgm:t>
    </dgm:pt>
    <dgm:pt modelId="{1A382853-C852-4B5A-8AE0-BDFEE74B65F5}" type="sibTrans" cxnId="{5A4D3770-625F-4728-A2BF-E28BBE24CD6A}">
      <dgm:prSet/>
      <dgm:spPr>
        <a:ln>
          <a:solidFill>
            <a:schemeClr val="bg1"/>
          </a:solidFill>
        </a:ln>
      </dgm:spPr>
      <dgm:t>
        <a:bodyPr/>
        <a:lstStyle/>
        <a:p>
          <a:endParaRPr lang="fr-FR"/>
        </a:p>
      </dgm:t>
    </dgm:pt>
    <dgm:pt modelId="{725902FF-540F-46E2-AA4A-85E64AD410A0}">
      <dgm:prSet custT="1"/>
      <dgm:spPr>
        <a:solidFill>
          <a:schemeClr val="bg2">
            <a:lumMod val="60000"/>
            <a:lumOff val="40000"/>
            <a:alpha val="63333"/>
          </a:schemeClr>
        </a:solidFill>
        <a:ln>
          <a:solidFill>
            <a:schemeClr val="bg1"/>
          </a:solidFill>
        </a:ln>
      </dgm:spPr>
      <dgm:t>
        <a:bodyPr/>
        <a:lstStyle/>
        <a:p>
          <a:r>
            <a:rPr kumimoji="0" lang="fr-FR" altLang="fr-FR" sz="19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rPr>
            <a:t>Santé</a:t>
          </a:r>
          <a:r>
            <a:rPr kumimoji="0" lang="fr-FR" altLang="fr-FR" sz="19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rPr>
            <a:t> </a:t>
          </a:r>
          <a:r>
            <a:rPr kumimoji="0" lang="fr-FR" altLang="fr-FR" sz="16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rPr>
            <a:t>(diagnostic à partir d’images médicales)</a:t>
          </a:r>
          <a:endParaRPr kumimoji="0" lang="fr-FR" altLang="fr-FR" sz="1900" b="1" i="0" u="none" strike="noStrike" cap="none" normalizeH="0" baseline="0" dirty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</a:endParaRPr>
        </a:p>
      </dgm:t>
    </dgm:pt>
    <dgm:pt modelId="{27F5C8FD-2638-4370-9548-5FDB2A164248}" type="parTrans" cxnId="{801022DA-9809-4AF6-9159-1741A22B40D1}">
      <dgm:prSet/>
      <dgm:spPr/>
      <dgm:t>
        <a:bodyPr/>
        <a:lstStyle/>
        <a:p>
          <a:endParaRPr lang="fr-FR"/>
        </a:p>
      </dgm:t>
    </dgm:pt>
    <dgm:pt modelId="{722A7D31-B7BD-4D23-A151-C3FB775DE854}" type="sibTrans" cxnId="{801022DA-9809-4AF6-9159-1741A22B40D1}">
      <dgm:prSet/>
      <dgm:spPr/>
      <dgm:t>
        <a:bodyPr/>
        <a:lstStyle/>
        <a:p>
          <a:endParaRPr lang="fr-FR"/>
        </a:p>
      </dgm:t>
    </dgm:pt>
    <dgm:pt modelId="{B273539F-ADAC-4613-9424-FD4061A4B627}">
      <dgm:prSet custT="1"/>
      <dgm:spPr>
        <a:solidFill>
          <a:schemeClr val="bg2">
            <a:lumMod val="60000"/>
            <a:lumOff val="40000"/>
            <a:alpha val="76667"/>
          </a:schemeClr>
        </a:solidFill>
        <a:ln>
          <a:solidFill>
            <a:schemeClr val="bg1"/>
          </a:solidFill>
        </a:ln>
      </dgm:spPr>
      <dgm:t>
        <a:bodyPr/>
        <a:lstStyle/>
        <a:p>
          <a:r>
            <a:rPr kumimoji="0" lang="fr-FR" altLang="fr-FR" sz="19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rPr>
            <a:t>Environnement</a:t>
          </a:r>
          <a:r>
            <a:rPr kumimoji="0" lang="fr-FR" altLang="fr-FR" sz="19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rPr>
            <a:t> </a:t>
          </a:r>
          <a:r>
            <a:rPr kumimoji="0" lang="fr-FR" altLang="fr-FR" sz="16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rPr>
            <a:t>(analyse de la biodiversité)</a:t>
          </a:r>
          <a:endParaRPr kumimoji="0" lang="fr-FR" altLang="fr-FR" sz="1900" b="1" i="0" u="none" strike="noStrike" cap="none" normalizeH="0" baseline="0" dirty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</a:endParaRPr>
        </a:p>
      </dgm:t>
    </dgm:pt>
    <dgm:pt modelId="{C915F2E7-5B3E-4A3E-8D42-D55CCE2F20F4}" type="parTrans" cxnId="{D3B24791-2411-41D7-B4FC-7141EE67440E}">
      <dgm:prSet/>
      <dgm:spPr/>
      <dgm:t>
        <a:bodyPr/>
        <a:lstStyle/>
        <a:p>
          <a:endParaRPr lang="fr-FR"/>
        </a:p>
      </dgm:t>
    </dgm:pt>
    <dgm:pt modelId="{2C04D035-0D5D-41E3-AE37-671E4285A600}" type="sibTrans" cxnId="{D3B24791-2411-41D7-B4FC-7141EE67440E}">
      <dgm:prSet/>
      <dgm:spPr/>
      <dgm:t>
        <a:bodyPr/>
        <a:lstStyle/>
        <a:p>
          <a:endParaRPr lang="fr-FR"/>
        </a:p>
      </dgm:t>
    </dgm:pt>
    <dgm:pt modelId="{5B19394E-CD82-4CED-B87B-FD2351241F65}" type="pres">
      <dgm:prSet presAssocID="{3F48507A-ECA3-4B82-8597-5D8DDA3DAB61}" presName="Name0" presStyleCnt="0">
        <dgm:presLayoutVars>
          <dgm:chMax val="7"/>
          <dgm:chPref val="7"/>
          <dgm:dir/>
        </dgm:presLayoutVars>
      </dgm:prSet>
      <dgm:spPr/>
    </dgm:pt>
    <dgm:pt modelId="{EC914F65-07A6-463B-8FA6-CE5CC71CE25A}" type="pres">
      <dgm:prSet presAssocID="{3F48507A-ECA3-4B82-8597-5D8DDA3DAB61}" presName="Name1" presStyleCnt="0"/>
      <dgm:spPr/>
    </dgm:pt>
    <dgm:pt modelId="{CD0EEF19-5AC4-46C5-87D5-D26882367D68}" type="pres">
      <dgm:prSet presAssocID="{3F48507A-ECA3-4B82-8597-5D8DDA3DAB61}" presName="cycle" presStyleCnt="0"/>
      <dgm:spPr/>
    </dgm:pt>
    <dgm:pt modelId="{CD726174-9A77-4D2C-A1B2-4674339F38EA}" type="pres">
      <dgm:prSet presAssocID="{3F48507A-ECA3-4B82-8597-5D8DDA3DAB61}" presName="srcNode" presStyleLbl="node1" presStyleIdx="0" presStyleCnt="4"/>
      <dgm:spPr/>
    </dgm:pt>
    <dgm:pt modelId="{2090081B-97CD-487D-BCE2-4154206F42D0}" type="pres">
      <dgm:prSet presAssocID="{3F48507A-ECA3-4B82-8597-5D8DDA3DAB61}" presName="conn" presStyleLbl="parChTrans1D2" presStyleIdx="0" presStyleCnt="1"/>
      <dgm:spPr/>
    </dgm:pt>
    <dgm:pt modelId="{314B78AB-16DD-412A-82BE-7E5BA27E0717}" type="pres">
      <dgm:prSet presAssocID="{3F48507A-ECA3-4B82-8597-5D8DDA3DAB61}" presName="extraNode" presStyleLbl="node1" presStyleIdx="0" presStyleCnt="4"/>
      <dgm:spPr/>
    </dgm:pt>
    <dgm:pt modelId="{A8E4B46F-97B6-4BCD-8E29-DC3CE0518B33}" type="pres">
      <dgm:prSet presAssocID="{3F48507A-ECA3-4B82-8597-5D8DDA3DAB61}" presName="dstNode" presStyleLbl="node1" presStyleIdx="0" presStyleCnt="4"/>
      <dgm:spPr/>
    </dgm:pt>
    <dgm:pt modelId="{70C1AED1-D0FB-4E5E-A9DF-EB361C73E305}" type="pres">
      <dgm:prSet presAssocID="{035A4614-9F37-4FC5-9186-16986C14EE45}" presName="text_1" presStyleLbl="node1" presStyleIdx="0" presStyleCnt="4">
        <dgm:presLayoutVars>
          <dgm:bulletEnabled val="1"/>
        </dgm:presLayoutVars>
      </dgm:prSet>
      <dgm:spPr/>
    </dgm:pt>
    <dgm:pt modelId="{9AF06A8C-D986-42E6-AAFF-1ACABCAE7C8B}" type="pres">
      <dgm:prSet presAssocID="{035A4614-9F37-4FC5-9186-16986C14EE45}" presName="accent_1" presStyleCnt="0"/>
      <dgm:spPr/>
    </dgm:pt>
    <dgm:pt modelId="{DCC697F5-E778-4B02-B70C-BAB07D3E52AC}" type="pres">
      <dgm:prSet presAssocID="{035A4614-9F37-4FC5-9186-16986C14EE45}" presName="accentRepeatNode" presStyleLbl="solidFgAcc1" presStyleIdx="0" presStyleCnt="4"/>
      <dgm:spPr>
        <a:solidFill>
          <a:schemeClr val="bg2"/>
        </a:solidFill>
        <a:ln>
          <a:solidFill>
            <a:schemeClr val="bg1">
              <a:alpha val="90000"/>
            </a:schemeClr>
          </a:solidFill>
        </a:ln>
      </dgm:spPr>
    </dgm:pt>
    <dgm:pt modelId="{E1942885-2DB1-4992-BEA6-F766EDF51649}" type="pres">
      <dgm:prSet presAssocID="{B273539F-ADAC-4613-9424-FD4061A4B627}" presName="text_2" presStyleLbl="node1" presStyleIdx="1" presStyleCnt="4">
        <dgm:presLayoutVars>
          <dgm:bulletEnabled val="1"/>
        </dgm:presLayoutVars>
      </dgm:prSet>
      <dgm:spPr/>
    </dgm:pt>
    <dgm:pt modelId="{D51ED2E2-A451-404E-BC0B-9A4D1567700C}" type="pres">
      <dgm:prSet presAssocID="{B273539F-ADAC-4613-9424-FD4061A4B627}" presName="accent_2" presStyleCnt="0"/>
      <dgm:spPr/>
    </dgm:pt>
    <dgm:pt modelId="{6FC8CC5E-73CE-4873-8453-E3DA22D070D7}" type="pres">
      <dgm:prSet presAssocID="{B273539F-ADAC-4613-9424-FD4061A4B627}" presName="accentRepeatNode" presStyleLbl="solidFgAcc1" presStyleIdx="1" presStyleCnt="4"/>
      <dgm:spPr>
        <a:solidFill>
          <a:schemeClr val="bg2"/>
        </a:solidFill>
        <a:ln>
          <a:solidFill>
            <a:schemeClr val="bg1">
              <a:alpha val="76667"/>
            </a:schemeClr>
          </a:solidFill>
        </a:ln>
      </dgm:spPr>
    </dgm:pt>
    <dgm:pt modelId="{950322CE-F048-4386-B3A4-AB03ABE904DD}" type="pres">
      <dgm:prSet presAssocID="{725902FF-540F-46E2-AA4A-85E64AD410A0}" presName="text_3" presStyleLbl="node1" presStyleIdx="2" presStyleCnt="4">
        <dgm:presLayoutVars>
          <dgm:bulletEnabled val="1"/>
        </dgm:presLayoutVars>
      </dgm:prSet>
      <dgm:spPr/>
    </dgm:pt>
    <dgm:pt modelId="{62E373B6-954A-4143-9E53-6235217D671D}" type="pres">
      <dgm:prSet presAssocID="{725902FF-540F-46E2-AA4A-85E64AD410A0}" presName="accent_3" presStyleCnt="0"/>
      <dgm:spPr/>
    </dgm:pt>
    <dgm:pt modelId="{2ED64DF7-0BCE-47C4-8920-9976FED0B0B6}" type="pres">
      <dgm:prSet presAssocID="{725902FF-540F-46E2-AA4A-85E64AD410A0}" presName="accentRepeatNode" presStyleLbl="solidFgAcc1" presStyleIdx="2" presStyleCnt="4"/>
      <dgm:spPr>
        <a:solidFill>
          <a:schemeClr val="bg2"/>
        </a:solidFill>
        <a:ln>
          <a:solidFill>
            <a:schemeClr val="bg1">
              <a:alpha val="63333"/>
            </a:schemeClr>
          </a:solidFill>
        </a:ln>
      </dgm:spPr>
    </dgm:pt>
    <dgm:pt modelId="{2E606E76-E8F4-4C07-8955-770FF61D98ED}" type="pres">
      <dgm:prSet presAssocID="{6EB6E6FC-FA63-47A6-A0BD-66FD636E6771}" presName="text_4" presStyleLbl="node1" presStyleIdx="3" presStyleCnt="4">
        <dgm:presLayoutVars>
          <dgm:bulletEnabled val="1"/>
        </dgm:presLayoutVars>
      </dgm:prSet>
      <dgm:spPr/>
    </dgm:pt>
    <dgm:pt modelId="{9B03E199-FB9F-4C77-A179-BB667837AC7C}" type="pres">
      <dgm:prSet presAssocID="{6EB6E6FC-FA63-47A6-A0BD-66FD636E6771}" presName="accent_4" presStyleCnt="0"/>
      <dgm:spPr/>
    </dgm:pt>
    <dgm:pt modelId="{FE97B083-8182-45FA-A731-9D2920AB2878}" type="pres">
      <dgm:prSet presAssocID="{6EB6E6FC-FA63-47A6-A0BD-66FD636E6771}" presName="accentRepeatNode" presStyleLbl="solidFgAcc1" presStyleIdx="3" presStyleCnt="4"/>
      <dgm:spPr>
        <a:solidFill>
          <a:schemeClr val="bg2"/>
        </a:solidFill>
        <a:ln>
          <a:solidFill>
            <a:schemeClr val="bg1">
              <a:alpha val="50000"/>
            </a:schemeClr>
          </a:solidFill>
        </a:ln>
      </dgm:spPr>
    </dgm:pt>
  </dgm:ptLst>
  <dgm:cxnLst>
    <dgm:cxn modelId="{F6256903-6776-4513-92AE-4E56F8D1310D}" type="presOf" srcId="{3F48507A-ECA3-4B82-8597-5D8DDA3DAB61}" destId="{5B19394E-CD82-4CED-B87B-FD2351241F65}" srcOrd="0" destOrd="0" presId="urn:microsoft.com/office/officeart/2008/layout/VerticalCurvedList"/>
    <dgm:cxn modelId="{E7BC9306-F832-4534-AC29-F9B0B91E2E4C}" type="presOf" srcId="{725902FF-540F-46E2-AA4A-85E64AD410A0}" destId="{950322CE-F048-4386-B3A4-AB03ABE904DD}" srcOrd="0" destOrd="0" presId="urn:microsoft.com/office/officeart/2008/layout/VerticalCurvedList"/>
    <dgm:cxn modelId="{5A4D3770-625F-4728-A2BF-E28BBE24CD6A}" srcId="{3F48507A-ECA3-4B82-8597-5D8DDA3DAB61}" destId="{035A4614-9F37-4FC5-9186-16986C14EE45}" srcOrd="0" destOrd="0" parTransId="{E277A69F-C40B-43EF-A3D4-9F0020FD4F29}" sibTransId="{1A382853-C852-4B5A-8AE0-BDFEE74B65F5}"/>
    <dgm:cxn modelId="{E401157C-63D4-4888-96EF-6E5EDFA1E654}" type="presOf" srcId="{035A4614-9F37-4FC5-9186-16986C14EE45}" destId="{70C1AED1-D0FB-4E5E-A9DF-EB361C73E305}" srcOrd="0" destOrd="0" presId="urn:microsoft.com/office/officeart/2008/layout/VerticalCurvedList"/>
    <dgm:cxn modelId="{D3B24791-2411-41D7-B4FC-7141EE67440E}" srcId="{3F48507A-ECA3-4B82-8597-5D8DDA3DAB61}" destId="{B273539F-ADAC-4613-9424-FD4061A4B627}" srcOrd="1" destOrd="0" parTransId="{C915F2E7-5B3E-4A3E-8D42-D55CCE2F20F4}" sibTransId="{2C04D035-0D5D-41E3-AE37-671E4285A600}"/>
    <dgm:cxn modelId="{42DBB0A4-0D10-4929-8019-83550DEFE1C5}" type="presOf" srcId="{B273539F-ADAC-4613-9424-FD4061A4B627}" destId="{E1942885-2DB1-4992-BEA6-F766EDF51649}" srcOrd="0" destOrd="0" presId="urn:microsoft.com/office/officeart/2008/layout/VerticalCurvedList"/>
    <dgm:cxn modelId="{851A04D3-9B0D-42CE-89B5-32E3ACD0579B}" type="presOf" srcId="{1A382853-C852-4B5A-8AE0-BDFEE74B65F5}" destId="{2090081B-97CD-487D-BCE2-4154206F42D0}" srcOrd="0" destOrd="0" presId="urn:microsoft.com/office/officeart/2008/layout/VerticalCurvedList"/>
    <dgm:cxn modelId="{801022DA-9809-4AF6-9159-1741A22B40D1}" srcId="{3F48507A-ECA3-4B82-8597-5D8DDA3DAB61}" destId="{725902FF-540F-46E2-AA4A-85E64AD410A0}" srcOrd="2" destOrd="0" parTransId="{27F5C8FD-2638-4370-9548-5FDB2A164248}" sibTransId="{722A7D31-B7BD-4D23-A151-C3FB775DE854}"/>
    <dgm:cxn modelId="{AAD459F6-614E-44FA-9BB9-7D61D42BA6FA}" type="presOf" srcId="{6EB6E6FC-FA63-47A6-A0BD-66FD636E6771}" destId="{2E606E76-E8F4-4C07-8955-770FF61D98ED}" srcOrd="0" destOrd="0" presId="urn:microsoft.com/office/officeart/2008/layout/VerticalCurvedList"/>
    <dgm:cxn modelId="{8A8299FA-7926-42BE-8F2D-AB3E13FA6D77}" srcId="{3F48507A-ECA3-4B82-8597-5D8DDA3DAB61}" destId="{6EB6E6FC-FA63-47A6-A0BD-66FD636E6771}" srcOrd="3" destOrd="0" parTransId="{364E95A1-6EC9-4C3A-9714-EF623F144BFD}" sibTransId="{571CA20E-8C09-4921-91BB-D79125601EF9}"/>
    <dgm:cxn modelId="{87DD28C8-2540-441E-B362-EBCB8F02AE91}" type="presParOf" srcId="{5B19394E-CD82-4CED-B87B-FD2351241F65}" destId="{EC914F65-07A6-463B-8FA6-CE5CC71CE25A}" srcOrd="0" destOrd="0" presId="urn:microsoft.com/office/officeart/2008/layout/VerticalCurvedList"/>
    <dgm:cxn modelId="{5070FAC4-574E-4055-A618-759EBBBCB991}" type="presParOf" srcId="{EC914F65-07A6-463B-8FA6-CE5CC71CE25A}" destId="{CD0EEF19-5AC4-46C5-87D5-D26882367D68}" srcOrd="0" destOrd="0" presId="urn:microsoft.com/office/officeart/2008/layout/VerticalCurvedList"/>
    <dgm:cxn modelId="{878BEFEE-A162-4129-A925-820ABDBB84D9}" type="presParOf" srcId="{CD0EEF19-5AC4-46C5-87D5-D26882367D68}" destId="{CD726174-9A77-4D2C-A1B2-4674339F38EA}" srcOrd="0" destOrd="0" presId="urn:microsoft.com/office/officeart/2008/layout/VerticalCurvedList"/>
    <dgm:cxn modelId="{FA66A5AA-C4BF-4D54-8040-48B773DF3D44}" type="presParOf" srcId="{CD0EEF19-5AC4-46C5-87D5-D26882367D68}" destId="{2090081B-97CD-487D-BCE2-4154206F42D0}" srcOrd="1" destOrd="0" presId="urn:microsoft.com/office/officeart/2008/layout/VerticalCurvedList"/>
    <dgm:cxn modelId="{2EC56849-0610-46BC-AB5B-C296D6D2833C}" type="presParOf" srcId="{CD0EEF19-5AC4-46C5-87D5-D26882367D68}" destId="{314B78AB-16DD-412A-82BE-7E5BA27E0717}" srcOrd="2" destOrd="0" presId="urn:microsoft.com/office/officeart/2008/layout/VerticalCurvedList"/>
    <dgm:cxn modelId="{2FCBA68B-43F1-4057-88D5-ECE58267F221}" type="presParOf" srcId="{CD0EEF19-5AC4-46C5-87D5-D26882367D68}" destId="{A8E4B46F-97B6-4BCD-8E29-DC3CE0518B33}" srcOrd="3" destOrd="0" presId="urn:microsoft.com/office/officeart/2008/layout/VerticalCurvedList"/>
    <dgm:cxn modelId="{28E61607-0E9E-4CD6-B2C3-4BC0DC35A4A8}" type="presParOf" srcId="{EC914F65-07A6-463B-8FA6-CE5CC71CE25A}" destId="{70C1AED1-D0FB-4E5E-A9DF-EB361C73E305}" srcOrd="1" destOrd="0" presId="urn:microsoft.com/office/officeart/2008/layout/VerticalCurvedList"/>
    <dgm:cxn modelId="{8E6B0E4D-FCAF-45F3-9B01-A4BD2176383C}" type="presParOf" srcId="{EC914F65-07A6-463B-8FA6-CE5CC71CE25A}" destId="{9AF06A8C-D986-42E6-AAFF-1ACABCAE7C8B}" srcOrd="2" destOrd="0" presId="urn:microsoft.com/office/officeart/2008/layout/VerticalCurvedList"/>
    <dgm:cxn modelId="{82FE33F2-54A6-4E01-90F6-3E3D18CA2229}" type="presParOf" srcId="{9AF06A8C-D986-42E6-AAFF-1ACABCAE7C8B}" destId="{DCC697F5-E778-4B02-B70C-BAB07D3E52AC}" srcOrd="0" destOrd="0" presId="urn:microsoft.com/office/officeart/2008/layout/VerticalCurvedList"/>
    <dgm:cxn modelId="{C39E854A-AD51-4E44-9535-5E0F86C43662}" type="presParOf" srcId="{EC914F65-07A6-463B-8FA6-CE5CC71CE25A}" destId="{E1942885-2DB1-4992-BEA6-F766EDF51649}" srcOrd="3" destOrd="0" presId="urn:microsoft.com/office/officeart/2008/layout/VerticalCurvedList"/>
    <dgm:cxn modelId="{1DF6D015-F6B4-4164-83E3-386BCDD08187}" type="presParOf" srcId="{EC914F65-07A6-463B-8FA6-CE5CC71CE25A}" destId="{D51ED2E2-A451-404E-BC0B-9A4D1567700C}" srcOrd="4" destOrd="0" presId="urn:microsoft.com/office/officeart/2008/layout/VerticalCurvedList"/>
    <dgm:cxn modelId="{29726DE4-D752-4D10-993B-BE8C2D8CC3B4}" type="presParOf" srcId="{D51ED2E2-A451-404E-BC0B-9A4D1567700C}" destId="{6FC8CC5E-73CE-4873-8453-E3DA22D070D7}" srcOrd="0" destOrd="0" presId="urn:microsoft.com/office/officeart/2008/layout/VerticalCurvedList"/>
    <dgm:cxn modelId="{4488B576-6518-4581-99C7-45BDABE84D77}" type="presParOf" srcId="{EC914F65-07A6-463B-8FA6-CE5CC71CE25A}" destId="{950322CE-F048-4386-B3A4-AB03ABE904DD}" srcOrd="5" destOrd="0" presId="urn:microsoft.com/office/officeart/2008/layout/VerticalCurvedList"/>
    <dgm:cxn modelId="{E3197EE3-9A5B-4D7A-AF37-005B4C501F2A}" type="presParOf" srcId="{EC914F65-07A6-463B-8FA6-CE5CC71CE25A}" destId="{62E373B6-954A-4143-9E53-6235217D671D}" srcOrd="6" destOrd="0" presId="urn:microsoft.com/office/officeart/2008/layout/VerticalCurvedList"/>
    <dgm:cxn modelId="{C9D25D70-2E22-4CEE-A020-595F837E4A35}" type="presParOf" srcId="{62E373B6-954A-4143-9E53-6235217D671D}" destId="{2ED64DF7-0BCE-47C4-8920-9976FED0B0B6}" srcOrd="0" destOrd="0" presId="urn:microsoft.com/office/officeart/2008/layout/VerticalCurvedList"/>
    <dgm:cxn modelId="{B936556F-A32B-42E5-94B6-FC0AD9EE0ADE}" type="presParOf" srcId="{EC914F65-07A6-463B-8FA6-CE5CC71CE25A}" destId="{2E606E76-E8F4-4C07-8955-770FF61D98ED}" srcOrd="7" destOrd="0" presId="urn:microsoft.com/office/officeart/2008/layout/VerticalCurvedList"/>
    <dgm:cxn modelId="{AE0F78AC-9239-4C7A-9F06-E7F16CC60088}" type="presParOf" srcId="{EC914F65-07A6-463B-8FA6-CE5CC71CE25A}" destId="{9B03E199-FB9F-4C77-A179-BB667837AC7C}" srcOrd="8" destOrd="0" presId="urn:microsoft.com/office/officeart/2008/layout/VerticalCurvedList"/>
    <dgm:cxn modelId="{C34CA985-4F46-4121-8427-F99CB217DA7F}" type="presParOf" srcId="{9B03E199-FB9F-4C77-A179-BB667837AC7C}" destId="{FE97B083-8182-45FA-A731-9D2920AB2878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90081B-97CD-487D-BCE2-4154206F42D0}">
      <dsp:nvSpPr>
        <dsp:cNvPr id="0" name=""/>
        <dsp:cNvSpPr/>
      </dsp:nvSpPr>
      <dsp:spPr>
        <a:xfrm>
          <a:off x="-2805157" y="-432405"/>
          <a:ext cx="3347400" cy="3347400"/>
        </a:xfrm>
        <a:prstGeom prst="blockArc">
          <a:avLst>
            <a:gd name="adj1" fmla="val 18900000"/>
            <a:gd name="adj2" fmla="val 2700000"/>
            <a:gd name="adj3" fmla="val 645"/>
          </a:avLst>
        </a:prstGeom>
        <a:noFill/>
        <a:ln w="15875" cap="rnd" cmpd="sng" algn="ctr">
          <a:solidFill>
            <a:schemeClr val="bg1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0C1AED1-D0FB-4E5E-A9DF-EB361C73E305}">
      <dsp:nvSpPr>
        <dsp:cNvPr id="0" name=""/>
        <dsp:cNvSpPr/>
      </dsp:nvSpPr>
      <dsp:spPr>
        <a:xfrm>
          <a:off x="284582" y="190861"/>
          <a:ext cx="7195312" cy="381921"/>
        </a:xfrm>
        <a:prstGeom prst="rect">
          <a:avLst/>
        </a:prstGeom>
        <a:solidFill>
          <a:schemeClr val="bg2">
            <a:lumMod val="60000"/>
            <a:lumOff val="40000"/>
            <a:alpha val="90000"/>
          </a:schemeClr>
        </a:solidFill>
        <a:ln w="15875" cap="rnd" cmpd="sng" algn="ctr">
          <a:solidFill>
            <a:schemeClr val="bg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3150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fr-FR" altLang="fr-FR" sz="1900" b="1" i="1" u="none" strike="noStrike" kern="1200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rPr>
            <a:t>Agriculture</a:t>
          </a:r>
          <a:r>
            <a:rPr kumimoji="0" lang="fr-FR" altLang="fr-FR" sz="1900" b="1" i="0" u="none" strike="noStrike" kern="1200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rPr>
            <a:t> </a:t>
          </a:r>
          <a:r>
            <a:rPr kumimoji="0" lang="fr-FR" altLang="fr-FR" sz="1600" b="1" i="0" u="none" strike="noStrike" kern="1200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rPr>
            <a:t>(reconnaissance de maladies des plantes)</a:t>
          </a:r>
          <a:endParaRPr lang="fr-FR" sz="1900" kern="1200" dirty="0"/>
        </a:p>
      </dsp:txBody>
      <dsp:txXfrm>
        <a:off x="284582" y="190861"/>
        <a:ext cx="7195312" cy="381921"/>
      </dsp:txXfrm>
    </dsp:sp>
    <dsp:sp modelId="{DCC697F5-E778-4B02-B70C-BAB07D3E52AC}">
      <dsp:nvSpPr>
        <dsp:cNvPr id="0" name=""/>
        <dsp:cNvSpPr/>
      </dsp:nvSpPr>
      <dsp:spPr>
        <a:xfrm>
          <a:off x="45881" y="143121"/>
          <a:ext cx="477402" cy="477402"/>
        </a:xfrm>
        <a:prstGeom prst="ellipse">
          <a:avLst/>
        </a:prstGeom>
        <a:solidFill>
          <a:schemeClr val="bg2"/>
        </a:solidFill>
        <a:ln w="15875" cap="rnd" cmpd="sng" algn="ctr">
          <a:solidFill>
            <a:schemeClr val="bg1">
              <a:alpha val="9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942885-2DB1-4992-BEA6-F766EDF51649}">
      <dsp:nvSpPr>
        <dsp:cNvPr id="0" name=""/>
        <dsp:cNvSpPr/>
      </dsp:nvSpPr>
      <dsp:spPr>
        <a:xfrm>
          <a:off x="503546" y="763843"/>
          <a:ext cx="6976348" cy="381921"/>
        </a:xfrm>
        <a:prstGeom prst="rect">
          <a:avLst/>
        </a:prstGeom>
        <a:solidFill>
          <a:schemeClr val="bg2">
            <a:lumMod val="60000"/>
            <a:lumOff val="40000"/>
            <a:alpha val="76667"/>
          </a:schemeClr>
        </a:solidFill>
        <a:ln w="15875" cap="rnd" cmpd="sng" algn="ctr">
          <a:solidFill>
            <a:schemeClr val="bg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3150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fr-FR" altLang="fr-FR" sz="1900" b="1" i="0" u="none" strike="noStrike" kern="1200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rPr>
            <a:t>Environnement</a:t>
          </a:r>
          <a:r>
            <a:rPr kumimoji="0" lang="fr-FR" altLang="fr-FR" sz="1900" b="1" i="0" u="none" strike="noStrike" kern="1200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rPr>
            <a:t> </a:t>
          </a:r>
          <a:r>
            <a:rPr kumimoji="0" lang="fr-FR" altLang="fr-FR" sz="1600" b="1" i="0" u="none" strike="noStrike" kern="1200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rPr>
            <a:t>(analyse de la biodiversité)</a:t>
          </a:r>
          <a:endParaRPr kumimoji="0" lang="fr-FR" altLang="fr-FR" sz="1900" b="1" i="0" u="none" strike="noStrike" kern="1200" cap="none" normalizeH="0" baseline="0" dirty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</a:endParaRPr>
        </a:p>
      </dsp:txBody>
      <dsp:txXfrm>
        <a:off x="503546" y="763843"/>
        <a:ext cx="6976348" cy="381921"/>
      </dsp:txXfrm>
    </dsp:sp>
    <dsp:sp modelId="{6FC8CC5E-73CE-4873-8453-E3DA22D070D7}">
      <dsp:nvSpPr>
        <dsp:cNvPr id="0" name=""/>
        <dsp:cNvSpPr/>
      </dsp:nvSpPr>
      <dsp:spPr>
        <a:xfrm>
          <a:off x="264845" y="716103"/>
          <a:ext cx="477402" cy="477402"/>
        </a:xfrm>
        <a:prstGeom prst="ellipse">
          <a:avLst/>
        </a:prstGeom>
        <a:solidFill>
          <a:schemeClr val="bg2"/>
        </a:solidFill>
        <a:ln w="15875" cap="rnd" cmpd="sng" algn="ctr">
          <a:solidFill>
            <a:schemeClr val="bg1">
              <a:alpha val="76667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0322CE-F048-4386-B3A4-AB03ABE904DD}">
      <dsp:nvSpPr>
        <dsp:cNvPr id="0" name=""/>
        <dsp:cNvSpPr/>
      </dsp:nvSpPr>
      <dsp:spPr>
        <a:xfrm>
          <a:off x="503546" y="1336825"/>
          <a:ext cx="6976348" cy="381921"/>
        </a:xfrm>
        <a:prstGeom prst="rect">
          <a:avLst/>
        </a:prstGeom>
        <a:solidFill>
          <a:schemeClr val="bg2">
            <a:lumMod val="60000"/>
            <a:lumOff val="40000"/>
            <a:alpha val="63333"/>
          </a:schemeClr>
        </a:solidFill>
        <a:ln w="15875" cap="rnd" cmpd="sng" algn="ctr">
          <a:solidFill>
            <a:schemeClr val="bg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3150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fr-FR" altLang="fr-FR" sz="1900" b="1" i="0" u="none" strike="noStrike" kern="1200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rPr>
            <a:t>Santé</a:t>
          </a:r>
          <a:r>
            <a:rPr kumimoji="0" lang="fr-FR" altLang="fr-FR" sz="1900" b="1" i="0" u="none" strike="noStrike" kern="1200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rPr>
            <a:t> </a:t>
          </a:r>
          <a:r>
            <a:rPr kumimoji="0" lang="fr-FR" altLang="fr-FR" sz="1600" b="1" i="0" u="none" strike="noStrike" kern="1200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rPr>
            <a:t>(diagnostic à partir d’images médicales)</a:t>
          </a:r>
          <a:endParaRPr kumimoji="0" lang="fr-FR" altLang="fr-FR" sz="1900" b="1" i="0" u="none" strike="noStrike" kern="1200" cap="none" normalizeH="0" baseline="0" dirty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</a:endParaRPr>
        </a:p>
      </dsp:txBody>
      <dsp:txXfrm>
        <a:off x="503546" y="1336825"/>
        <a:ext cx="6976348" cy="381921"/>
      </dsp:txXfrm>
    </dsp:sp>
    <dsp:sp modelId="{2ED64DF7-0BCE-47C4-8920-9976FED0B0B6}">
      <dsp:nvSpPr>
        <dsp:cNvPr id="0" name=""/>
        <dsp:cNvSpPr/>
      </dsp:nvSpPr>
      <dsp:spPr>
        <a:xfrm>
          <a:off x="264845" y="1289084"/>
          <a:ext cx="477402" cy="477402"/>
        </a:xfrm>
        <a:prstGeom prst="ellipse">
          <a:avLst/>
        </a:prstGeom>
        <a:solidFill>
          <a:schemeClr val="bg2"/>
        </a:solidFill>
        <a:ln w="15875" cap="rnd" cmpd="sng" algn="ctr">
          <a:solidFill>
            <a:schemeClr val="bg1">
              <a:alpha val="63333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606E76-E8F4-4C07-8955-770FF61D98ED}">
      <dsp:nvSpPr>
        <dsp:cNvPr id="0" name=""/>
        <dsp:cNvSpPr/>
      </dsp:nvSpPr>
      <dsp:spPr>
        <a:xfrm>
          <a:off x="284582" y="1909806"/>
          <a:ext cx="7195312" cy="381921"/>
        </a:xfrm>
        <a:prstGeom prst="rect">
          <a:avLst/>
        </a:prstGeom>
        <a:solidFill>
          <a:schemeClr val="bg2">
            <a:lumMod val="60000"/>
            <a:lumOff val="40000"/>
            <a:alpha val="50000"/>
          </a:schemeClr>
        </a:solidFill>
        <a:ln w="15875" cap="rnd" cmpd="sng" algn="ctr">
          <a:solidFill>
            <a:schemeClr val="bg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3150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ClrTx/>
            <a:buSzTx/>
            <a:buFontTx/>
            <a:buNone/>
          </a:pPr>
          <a:r>
            <a:rPr kumimoji="0" lang="fr-FR" altLang="fr-FR" sz="1900" b="1" i="0" u="none" strike="noStrike" kern="1200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rPr>
            <a:t>Sécurité</a:t>
          </a:r>
          <a:r>
            <a:rPr kumimoji="0" lang="fr-FR" altLang="fr-FR" sz="1900" b="1" i="0" u="none" strike="noStrike" kern="1200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rPr>
            <a:t> </a:t>
          </a:r>
          <a:r>
            <a:rPr kumimoji="0" lang="fr-FR" altLang="fr-FR" sz="1600" b="1" i="0" u="none" strike="noStrike" kern="1200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rPr>
            <a:t>(reconnaissance faciale)</a:t>
          </a:r>
          <a:endParaRPr lang="fr-FR" sz="1900" kern="1200" dirty="0"/>
        </a:p>
      </dsp:txBody>
      <dsp:txXfrm>
        <a:off x="284582" y="1909806"/>
        <a:ext cx="7195312" cy="381921"/>
      </dsp:txXfrm>
    </dsp:sp>
    <dsp:sp modelId="{FE97B083-8182-45FA-A731-9D2920AB2878}">
      <dsp:nvSpPr>
        <dsp:cNvPr id="0" name=""/>
        <dsp:cNvSpPr/>
      </dsp:nvSpPr>
      <dsp:spPr>
        <a:xfrm>
          <a:off x="45881" y="1862066"/>
          <a:ext cx="477402" cy="477402"/>
        </a:xfrm>
        <a:prstGeom prst="ellipse">
          <a:avLst/>
        </a:prstGeom>
        <a:solidFill>
          <a:schemeClr val="bg2"/>
        </a:solidFill>
        <a:ln w="15875" cap="rnd" cmpd="sng" algn="ctr">
          <a:solidFill>
            <a:schemeClr val="bg1">
              <a:alpha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9D39EF-2BD3-47AA-8F5D-59DD2D93EDDF}" type="datetimeFigureOut">
              <a:rPr lang="fr-FR" smtClean="0"/>
              <a:t>10/10/2025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D3DE6E-2FF1-470B-9155-7AB4DA62B5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609693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D3DE6E-2FF1-470B-9155-7AB4DA62B509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003531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D3DE6E-2FF1-470B-9155-7AB4DA62B509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48577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D3DE6E-2FF1-470B-9155-7AB4DA62B509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019723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C2B8B-201A-FA95-18DB-09E8EF807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A412BADD-F839-B5C5-8F08-5465CB016C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1E0BCA2-1102-CEA2-0691-8608E9CECF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1092B46-1E90-204E-807F-AFFF4FE0A4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D3DE6E-2FF1-470B-9155-7AB4DA62B509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917811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D3DE6E-2FF1-470B-9155-7AB4DA62B509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504506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62A54D-6B88-0157-013A-F83927279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8FA76838-0865-C54E-0EE8-65CDBF2881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684F4222-F12D-644C-7ACA-CBED8F0DC6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71C02A9-C9C3-1769-4268-02FB668F00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D3DE6E-2FF1-470B-9155-7AB4DA62B509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563904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137283-4BFD-8D15-7A99-C3EC8C182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A54E162E-CC89-D39D-6C79-F5A383FAD1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9C586945-D434-D3B2-CF12-03FD4E9898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F22F9D2-0D68-42B7-4EB8-4C4C155B37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D3DE6E-2FF1-470B-9155-7AB4DA62B509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94620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1270E-7F06-3F66-EDD6-B4FF40841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3BC7A336-7690-44EB-B477-895EEB1ADC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43DD244C-CD79-EFA0-C2A4-50E1ABE157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b="0" i="0" dirty="0">
              <a:effectLst/>
              <a:latin typeface="system-ui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03FC030-BEBA-6387-2F11-BA1D79B897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D3DE6E-2FF1-470B-9155-7AB4DA62B509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363241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0A8B2-4F51-C013-EA59-ACD5C2451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25B7974A-AC69-7E5C-04DC-ADC030BA6D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5B816B0E-3D0E-85C9-79E0-3948835916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b="0" i="0" dirty="0">
              <a:effectLst/>
              <a:latin typeface="system-ui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81995EE-2A92-2EB4-6DF7-15E0DCDBFD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D3DE6E-2FF1-470B-9155-7AB4DA62B509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919211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EE182-177B-26FE-87B6-31CADB6AB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68D89D2-8DA8-212B-2171-704A801806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AF1F27B9-C4F5-D5E7-F177-55A34E94A5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5157363-1E76-41D7-5529-400FA71C66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D3DE6E-2FF1-470B-9155-7AB4DA62B509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525889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D3DE6E-2FF1-470B-9155-7AB4DA62B509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46881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D3DE6E-2FF1-470B-9155-7AB4DA62B509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21131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D3DE6E-2FF1-470B-9155-7AB4DA62B509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782790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6CA776-06DE-215C-78ED-5C116F19D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CC3FB9C-E5BE-1A63-85E0-DD4B7EAED5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4C994F44-10AF-B2C5-7037-F18BF8EC58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51C8F8E-2034-07D1-6BD7-E0573CD80E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D3DE6E-2FF1-470B-9155-7AB4DA62B509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008742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F2807-2076-7A1D-6776-E58A72B56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84E2461E-B17D-7962-49D9-B7BC3272AB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66BD45DF-4EFE-0D8A-721E-38042B117E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endParaRPr lang="fr-FR" b="0" i="0" dirty="0">
              <a:effectLst/>
              <a:latin typeface="system-ui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C9911C7-DF90-69A9-3AC5-626E49D3A5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D3DE6E-2FF1-470B-9155-7AB4DA62B509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8668535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D3DE6E-2FF1-470B-9155-7AB4DA62B509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8017511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D3DE6E-2FF1-470B-9155-7AB4DA62B509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3613192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D3DE6E-2FF1-470B-9155-7AB4DA62B509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339464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D3DE6E-2FF1-470B-9155-7AB4DA62B509}" type="slidenum">
              <a:rPr lang="fr-FR" smtClean="0"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613889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7BC2AB-6EA0-9A46-BB90-F18E221F9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1472C75F-A91B-AAFE-B9C1-3D4CB8AD6E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9082239D-69A4-8858-0C4F-E697DCAAB5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7690194-4A2B-8633-DB22-9883C51A8C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D3DE6E-2FF1-470B-9155-7AB4DA62B509}" type="slidenum">
              <a:rPr lang="fr-FR" smtClean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6855831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D3DE6E-2FF1-470B-9155-7AB4DA62B509}" type="slidenum">
              <a:rPr lang="fr-FR" smtClean="0"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4042094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D3DE6E-2FF1-470B-9155-7AB4DA62B509}" type="slidenum">
              <a:rPr lang="fr-FR" smtClean="0"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9885667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D3DE6E-2FF1-470B-9155-7AB4DA62B509}" type="slidenum">
              <a:rPr lang="fr-FR" smtClean="0"/>
              <a:t>23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843574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729EF-D31B-4EA5-A86F-038BC9473E73}" type="datetimeFigureOut">
              <a:rPr lang="fr-FR" smtClean="0"/>
              <a:t>10/10/2025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F0A09-8E2A-47EC-BAB4-F067E395406C}" type="slidenum">
              <a:rPr lang="fr-FR" smtClean="0"/>
              <a:t>‹N°›</a:t>
            </a:fld>
            <a:endParaRPr lang="fr-FR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11659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729EF-D31B-4EA5-A86F-038BC9473E73}" type="datetimeFigureOut">
              <a:rPr lang="fr-FR" smtClean="0"/>
              <a:t>10/10/2025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F0A09-8E2A-47EC-BAB4-F067E395406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091460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729EF-D31B-4EA5-A86F-038BC9473E73}" type="datetimeFigureOut">
              <a:rPr lang="fr-FR" smtClean="0"/>
              <a:t>10/10/2025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F0A09-8E2A-47EC-BAB4-F067E395406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93747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729EF-D31B-4EA5-A86F-038BC9473E73}" type="datetimeFigureOut">
              <a:rPr lang="fr-FR" smtClean="0"/>
              <a:t>10/10/2025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F0A09-8E2A-47EC-BAB4-F067E395406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663209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729EF-D31B-4EA5-A86F-038BC9473E73}" type="datetimeFigureOut">
              <a:rPr lang="fr-FR" smtClean="0"/>
              <a:t>10/10/2025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F0A09-8E2A-47EC-BAB4-F067E395406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0487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729EF-D31B-4EA5-A86F-038BC9473E73}" type="datetimeFigureOut">
              <a:rPr lang="fr-FR" smtClean="0"/>
              <a:t>10/10/2025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F0A09-8E2A-47EC-BAB4-F067E395406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535365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729EF-D31B-4EA5-A86F-038BC9473E73}" type="datetimeFigureOut">
              <a:rPr lang="fr-FR" smtClean="0"/>
              <a:t>10/10/2025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F0A09-8E2A-47EC-BAB4-F067E395406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56678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729EF-D31B-4EA5-A86F-038BC9473E73}" type="datetimeFigureOut">
              <a:rPr lang="fr-FR" smtClean="0"/>
              <a:t>10/10/2025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F0A09-8E2A-47EC-BAB4-F067E395406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138053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729EF-D31B-4EA5-A86F-038BC9473E73}" type="datetimeFigureOut">
              <a:rPr lang="fr-FR" smtClean="0"/>
              <a:t>10/10/2025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F0A09-8E2A-47EC-BAB4-F067E395406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948933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729EF-D31B-4EA5-A86F-038BC9473E73}" type="datetimeFigureOut">
              <a:rPr lang="fr-FR" smtClean="0"/>
              <a:t>10/10/2025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F0A09-8E2A-47EC-BAB4-F067E395406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446928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729EF-D31B-4EA5-A86F-038BC9473E73}" type="datetimeFigureOut">
              <a:rPr lang="fr-FR" smtClean="0"/>
              <a:t>10/10/2025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F0A09-8E2A-47EC-BAB4-F067E395406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39983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729EF-D31B-4EA5-A86F-038BC9473E73}" type="datetimeFigureOut">
              <a:rPr lang="fr-FR" smtClean="0"/>
              <a:t>10/10/2025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F0A09-8E2A-47EC-BAB4-F067E395406C}" type="slidenum">
              <a:rPr lang="fr-FR" smtClean="0"/>
              <a:t>‹N°›</a:t>
            </a:fld>
            <a:endParaRPr lang="fr-FR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419872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729EF-D31B-4EA5-A86F-038BC9473E73}" type="datetimeFigureOut">
              <a:rPr lang="fr-FR" smtClean="0"/>
              <a:t>10/10/2025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F0A09-8E2A-47EC-BAB4-F067E395406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836150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729EF-D31B-4EA5-A86F-038BC9473E73}" type="datetimeFigureOut">
              <a:rPr lang="fr-FR" smtClean="0"/>
              <a:t>10/10/2025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F0A09-8E2A-47EC-BAB4-F067E395406C}" type="slidenum">
              <a:rPr lang="fr-FR" smtClean="0"/>
              <a:t>‹N°›</a:t>
            </a:fld>
            <a:endParaRPr lang="fr-FR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022861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729EF-D31B-4EA5-A86F-038BC9473E73}" type="datetimeFigureOut">
              <a:rPr lang="fr-FR" smtClean="0"/>
              <a:t>10/10/2025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F0A09-8E2A-47EC-BAB4-F067E395406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556109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729EF-D31B-4EA5-A86F-038BC9473E73}" type="datetimeFigureOut">
              <a:rPr lang="fr-FR" smtClean="0"/>
              <a:t>10/10/2025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F0A09-8E2A-47EC-BAB4-F067E395406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669246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729EF-D31B-4EA5-A86F-038BC9473E73}" type="datetimeFigureOut">
              <a:rPr lang="fr-FR" smtClean="0"/>
              <a:t>10/10/2025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F0A09-8E2A-47EC-BAB4-F067E395406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90271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E89729EF-D31B-4EA5-A86F-038BC9473E73}" type="datetimeFigureOut">
              <a:rPr lang="fr-FR" smtClean="0"/>
              <a:t>10/10/2025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78FF0A09-8E2A-47EC-BAB4-F067E395406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635156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7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9.png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hdphoto" Target="../media/hdphoto5.wdp"/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microsoft.com/office/2007/relationships/hdphoto" Target="../media/hdphoto4.wdp"/><Relationship Id="rId5" Type="http://schemas.openxmlformats.org/officeDocument/2006/relationships/image" Target="../media/image11.png"/><Relationship Id="rId10" Type="http://schemas.microsoft.com/office/2007/relationships/hdphoto" Target="../media/hdphoto6.wdp"/><Relationship Id="rId4" Type="http://schemas.microsoft.com/office/2007/relationships/hdphoto" Target="../media/hdphoto3.wdp"/><Relationship Id="rId9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hdphoto" Target="../media/hdphoto6.wdp"/><Relationship Id="rId3" Type="http://schemas.openxmlformats.org/officeDocument/2006/relationships/image" Target="../media/image1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microsoft.com/office/2007/relationships/hdphoto" Target="../media/hdphoto5.wdp"/><Relationship Id="rId5" Type="http://schemas.openxmlformats.org/officeDocument/2006/relationships/image" Target="../media/image12.png"/><Relationship Id="rId4" Type="http://schemas.microsoft.com/office/2007/relationships/hdphoto" Target="../media/hdphoto4.wdp"/><Relationship Id="rId9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microsoft.com/office/2007/relationships/hdphoto" Target="../media/hdphoto7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microsoft.com/office/2007/relationships/hdphoto" Target="../media/hdphoto7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microsoft.com/office/2007/relationships/hdphoto" Target="../media/hdphoto8.wdp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0.wdp"/><Relationship Id="rId5" Type="http://schemas.openxmlformats.org/officeDocument/2006/relationships/image" Target="../media/image19.png"/><Relationship Id="rId4" Type="http://schemas.microsoft.com/office/2007/relationships/hdphoto" Target="../media/hdphoto9.wd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2.wdp"/><Relationship Id="rId5" Type="http://schemas.openxmlformats.org/officeDocument/2006/relationships/image" Target="../media/image21.png"/><Relationship Id="rId4" Type="http://schemas.microsoft.com/office/2007/relationships/hdphoto" Target="../media/hdphoto11.wd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3.wd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microsoft.com/office/2007/relationships/hdphoto" Target="../media/hdphoto14.wdp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microsoft.com/office/2007/relationships/hdphoto" Target="../media/hdphoto8.wdp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5.wdp"/><Relationship Id="rId5" Type="http://schemas.openxmlformats.org/officeDocument/2006/relationships/image" Target="../media/image25.png"/><Relationship Id="rId4" Type="http://schemas.microsoft.com/office/2007/relationships/hdphoto" Target="../media/hdphoto9.wdp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6.wdp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31.png"/><Relationship Id="rId7" Type="http://schemas.microsoft.com/office/2007/relationships/hdphoto" Target="../media/hdphoto18.wdp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microsoft.com/office/2007/relationships/hdphoto" Target="../media/hdphoto17.wdp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3812CEB-B29C-EE4C-B062-B7F55DCE63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8D29459C-7353-F212-8BBF-B8D7B754DF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0661" y="316470"/>
            <a:ext cx="5130669" cy="1779324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583DFB17-761C-BE97-1BD9-AE1C379B0572}"/>
              </a:ext>
            </a:extLst>
          </p:cNvPr>
          <p:cNvSpPr txBox="1"/>
          <p:nvPr/>
        </p:nvSpPr>
        <p:spPr>
          <a:xfrm>
            <a:off x="2533754" y="3391765"/>
            <a:ext cx="787528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306"/>
              </a:spcBef>
              <a:spcAft>
                <a:spcPts val="1742"/>
              </a:spcAft>
            </a:pPr>
            <a:r>
              <a:rPr lang="fr-FR" sz="4400" spc="3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Classification des fleurs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6AD7EB25-F4C1-F51B-3E60-980779E2EC7F}"/>
              </a:ext>
            </a:extLst>
          </p:cNvPr>
          <p:cNvSpPr txBox="1"/>
          <p:nvPr/>
        </p:nvSpPr>
        <p:spPr>
          <a:xfrm>
            <a:off x="1322961" y="2504522"/>
            <a:ext cx="100225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2400" b="1" i="0" dirty="0">
                <a:solidFill>
                  <a:schemeClr val="bg1"/>
                </a:solidFill>
                <a:effectLst/>
                <a:latin typeface="+mj-lt"/>
              </a:rPr>
              <a:t>Bureau d'études Apprentissage automatique (machine learning)</a:t>
            </a:r>
          </a:p>
        </p:txBody>
      </p: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0F7AA2AF-B90D-D471-26EB-3EB74AD384F7}"/>
              </a:ext>
            </a:extLst>
          </p:cNvPr>
          <p:cNvCxnSpPr/>
          <p:nvPr/>
        </p:nvCxnSpPr>
        <p:spPr>
          <a:xfrm>
            <a:off x="3957914" y="3237779"/>
            <a:ext cx="4276164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96ABDA96-BC64-F0BA-D482-9CD5E4821810}"/>
              </a:ext>
            </a:extLst>
          </p:cNvPr>
          <p:cNvCxnSpPr/>
          <p:nvPr/>
        </p:nvCxnSpPr>
        <p:spPr>
          <a:xfrm>
            <a:off x="3957914" y="2232036"/>
            <a:ext cx="4276164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A4097CBE-59C1-8757-1BF5-10F27BCEF9E2}"/>
              </a:ext>
            </a:extLst>
          </p:cNvPr>
          <p:cNvCxnSpPr>
            <a:cxnSpLocks/>
          </p:cNvCxnSpPr>
          <p:nvPr/>
        </p:nvCxnSpPr>
        <p:spPr>
          <a:xfrm>
            <a:off x="4855839" y="4366924"/>
            <a:ext cx="2480315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" name="ZoneTexte 19">
            <a:extLst>
              <a:ext uri="{FF2B5EF4-FFF2-40B4-BE49-F238E27FC236}">
                <a16:creationId xmlns:a16="http://schemas.microsoft.com/office/drawing/2014/main" id="{A595F992-7C42-3EFA-5504-ABC26A92FE2D}"/>
              </a:ext>
            </a:extLst>
          </p:cNvPr>
          <p:cNvSpPr txBox="1"/>
          <p:nvPr/>
        </p:nvSpPr>
        <p:spPr>
          <a:xfrm>
            <a:off x="265579" y="5107621"/>
            <a:ext cx="62058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dirty="0">
                <a:solidFill>
                  <a:schemeClr val="bg1"/>
                </a:solidFill>
                <a:latin typeface="+mj-lt"/>
              </a:rPr>
              <a:t>Réalisé par :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1CA38054-0CF5-5862-44A5-7CEAAA3E9DD8}"/>
              </a:ext>
            </a:extLst>
          </p:cNvPr>
          <p:cNvSpPr txBox="1"/>
          <p:nvPr/>
        </p:nvSpPr>
        <p:spPr>
          <a:xfrm>
            <a:off x="999113" y="5497913"/>
            <a:ext cx="6205816" cy="4551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fr-FR" dirty="0">
                <a:solidFill>
                  <a:schemeClr val="bg1"/>
                </a:solidFill>
                <a:latin typeface="+mj-lt"/>
              </a:rPr>
              <a:t>KABOU Abdeldjalil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EFFEE25C-508B-7CDE-BF85-AC31B2078D65}"/>
              </a:ext>
            </a:extLst>
          </p:cNvPr>
          <p:cNvSpPr txBox="1"/>
          <p:nvPr/>
        </p:nvSpPr>
        <p:spPr>
          <a:xfrm>
            <a:off x="5490767" y="4491446"/>
            <a:ext cx="121046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dirty="0">
                <a:solidFill>
                  <a:schemeClr val="bg1"/>
                </a:solidFill>
                <a:latin typeface="+mj-lt"/>
              </a:rPr>
              <a:t>M1SIA2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2B69EA91-1598-EC44-4DEE-00FD69348259}"/>
              </a:ext>
            </a:extLst>
          </p:cNvPr>
          <p:cNvSpPr txBox="1"/>
          <p:nvPr/>
        </p:nvSpPr>
        <p:spPr>
          <a:xfrm>
            <a:off x="5291360" y="6252264"/>
            <a:ext cx="16092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dirty="0">
                <a:solidFill>
                  <a:schemeClr val="bg1"/>
                </a:solidFill>
                <a:latin typeface="+mj-lt"/>
              </a:rPr>
              <a:t>13/05/2025</a:t>
            </a:r>
          </a:p>
        </p:txBody>
      </p:sp>
    </p:spTree>
    <p:extLst>
      <p:ext uri="{BB962C8B-B14F-4D97-AF65-F5344CB8AC3E}">
        <p14:creationId xmlns:p14="http://schemas.microsoft.com/office/powerpoint/2010/main" val="36893332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3C117F74-B441-CD2C-C2CC-3AFF298F203C}"/>
              </a:ext>
            </a:extLst>
          </p:cNvPr>
          <p:cNvSpPr txBox="1"/>
          <p:nvPr/>
        </p:nvSpPr>
        <p:spPr>
          <a:xfrm>
            <a:off x="363504" y="480524"/>
            <a:ext cx="866852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306"/>
              </a:spcBef>
              <a:spcAft>
                <a:spcPts val="1742"/>
              </a:spcAft>
            </a:pPr>
            <a:r>
              <a:rPr lang="fr-FR" sz="4400" b="0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ckwell Extra Bold" panose="02060903040505020403" pitchFamily="18" charset="0"/>
              </a:rPr>
              <a:t>Classification 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19040396-CC48-4E48-1533-AB5E25DB476B}"/>
              </a:ext>
            </a:extLst>
          </p:cNvPr>
          <p:cNvSpPr txBox="1"/>
          <p:nvPr/>
        </p:nvSpPr>
        <p:spPr>
          <a:xfrm>
            <a:off x="130628" y="1892854"/>
            <a:ext cx="119307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Domaine fondamental de l’intelligence artificielle, notamment en apprentissage profond (Deep learning).</a:t>
            </a:r>
            <a:endParaRPr lang="fr-FR" dirty="0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874D17AA-5DF4-9391-3D71-0CD0DE0B1467}"/>
              </a:ext>
            </a:extLst>
          </p:cNvPr>
          <p:cNvSpPr txBox="1"/>
          <p:nvPr/>
        </p:nvSpPr>
        <p:spPr>
          <a:xfrm>
            <a:off x="130628" y="2396354"/>
            <a:ext cx="11094488" cy="456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Objectif : attribuer une étiquette ou une catégorie à une image selon son contenu visuel.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8B96DB1E-8770-4C3F-BE71-9CB442A7D023}"/>
              </a:ext>
            </a:extLst>
          </p:cNvPr>
          <p:cNvSpPr txBox="1"/>
          <p:nvPr/>
        </p:nvSpPr>
        <p:spPr>
          <a:xfrm>
            <a:off x="130628" y="3059668"/>
            <a:ext cx="61068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Utilisée dans de nombreux domaines : </a:t>
            </a:r>
            <a:endParaRPr lang="fr-FR" dirty="0"/>
          </a:p>
        </p:txBody>
      </p:sp>
      <p:graphicFrame>
        <p:nvGraphicFramePr>
          <p:cNvPr id="32" name="Diagramme 31">
            <a:extLst>
              <a:ext uri="{FF2B5EF4-FFF2-40B4-BE49-F238E27FC236}">
                <a16:creationId xmlns:a16="http://schemas.microsoft.com/office/drawing/2014/main" id="{95546391-E87B-7B74-94D0-28C61E711FF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59079459"/>
              </p:ext>
            </p:extLst>
          </p:nvPr>
        </p:nvGraphicFramePr>
        <p:xfrm>
          <a:off x="2080725" y="3635779"/>
          <a:ext cx="7510105" cy="24825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3" name="Hexagone 32">
            <a:extLst>
              <a:ext uri="{FF2B5EF4-FFF2-40B4-BE49-F238E27FC236}">
                <a16:creationId xmlns:a16="http://schemas.microsoft.com/office/drawing/2014/main" id="{61D984B9-F340-3E92-98A5-2BB8235D19C7}"/>
              </a:ext>
            </a:extLst>
          </p:cNvPr>
          <p:cNvSpPr/>
          <p:nvPr/>
        </p:nvSpPr>
        <p:spPr>
          <a:xfrm>
            <a:off x="11225116" y="6118369"/>
            <a:ext cx="836255" cy="638115"/>
          </a:xfrm>
          <a:prstGeom prst="hexagon">
            <a:avLst>
              <a:gd name="adj" fmla="val 37833"/>
              <a:gd name="vf" fmla="val 11547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b="1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382446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/>
      <p:bldP spid="20" grpId="0"/>
      <p:bldGraphic spid="32" grpId="0">
        <p:bldAsOne/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FE978-3670-3392-F703-3DB86AF8A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ECF421AE-C1AC-6729-B697-BCCCC8CFFBD2}"/>
              </a:ext>
            </a:extLst>
          </p:cNvPr>
          <p:cNvSpPr txBox="1"/>
          <p:nvPr/>
        </p:nvSpPr>
        <p:spPr>
          <a:xfrm>
            <a:off x="363504" y="480524"/>
            <a:ext cx="837928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306"/>
              </a:spcBef>
              <a:spcAft>
                <a:spcPts val="1742"/>
              </a:spcAft>
            </a:pPr>
            <a:r>
              <a:rPr lang="fr-FR" sz="4400" b="0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ckwell Extra Bold" panose="02060903040505020403" pitchFamily="18" charset="0"/>
              </a:rPr>
              <a:t>Classification des fleurs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3385188-9B05-6371-69DA-8CAF0B1DBA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002" y="1508146"/>
            <a:ext cx="9453229" cy="5581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Classifier automatiquement des images de fleurs à partir de leurs photographies.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B6955131-0CBC-1339-5FA0-E2D1AF02A973}"/>
              </a:ext>
            </a:extLst>
          </p:cNvPr>
          <p:cNvSpPr txBox="1"/>
          <p:nvPr/>
        </p:nvSpPr>
        <p:spPr>
          <a:xfrm>
            <a:off x="772880" y="2672665"/>
            <a:ext cx="9170633" cy="1666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Reconnaître visuellement l’espèce d’une fleur,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Attribuer la bonne catégorie parmi plus de 100 classes,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Se baser uniquement sur l’apparence visuelle (forme, couleur, texture).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02628765-AE0F-2088-7CF9-40E908A772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225" y="4630727"/>
            <a:ext cx="1808955" cy="1643219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020DCEBA-04A2-B8E7-7C4A-0D765E648C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3583" y="4671140"/>
            <a:ext cx="1619250" cy="1632204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BC53A9F8-DDB0-F642-34F7-1DA2256013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7318" y="4597008"/>
            <a:ext cx="1808955" cy="1780468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67858B44-7F0F-91D2-A3EF-2CD8B24B9D9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4960" y="4845141"/>
            <a:ext cx="2039471" cy="1356031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7CF3C5B4-D2E6-D74E-3B9F-B574CB41949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0231" y="2819608"/>
            <a:ext cx="2087662" cy="2530246"/>
          </a:xfrm>
          <a:prstGeom prst="rect">
            <a:avLst/>
          </a:prstGeom>
        </p:spPr>
      </p:pic>
      <p:sp>
        <p:nvSpPr>
          <p:cNvPr id="20" name="ZoneTexte 19">
            <a:extLst>
              <a:ext uri="{FF2B5EF4-FFF2-40B4-BE49-F238E27FC236}">
                <a16:creationId xmlns:a16="http://schemas.microsoft.com/office/drawing/2014/main" id="{68AE18B2-D7B5-82CA-F6D5-979601645A4F}"/>
              </a:ext>
            </a:extLst>
          </p:cNvPr>
          <p:cNvSpPr txBox="1"/>
          <p:nvPr/>
        </p:nvSpPr>
        <p:spPr>
          <a:xfrm>
            <a:off x="297002" y="2045410"/>
            <a:ext cx="6104964" cy="558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Construire un modèle capable de :</a:t>
            </a:r>
          </a:p>
        </p:txBody>
      </p:sp>
      <p:sp>
        <p:nvSpPr>
          <p:cNvPr id="21" name="Hexagone 20">
            <a:extLst>
              <a:ext uri="{FF2B5EF4-FFF2-40B4-BE49-F238E27FC236}">
                <a16:creationId xmlns:a16="http://schemas.microsoft.com/office/drawing/2014/main" id="{75F1EBEF-D7B8-3D8C-1FEB-0051AF5D25D3}"/>
              </a:ext>
            </a:extLst>
          </p:cNvPr>
          <p:cNvSpPr/>
          <p:nvPr/>
        </p:nvSpPr>
        <p:spPr>
          <a:xfrm>
            <a:off x="11225116" y="6118369"/>
            <a:ext cx="836255" cy="638115"/>
          </a:xfrm>
          <a:prstGeom prst="hexagon">
            <a:avLst>
              <a:gd name="adj" fmla="val 37833"/>
              <a:gd name="vf" fmla="val 11547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b="1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394503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2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9951AD-4AC0-979D-824E-49F0E7CB9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552FB8CF-F366-F857-E652-4FAF83D57B26}"/>
              </a:ext>
            </a:extLst>
          </p:cNvPr>
          <p:cNvSpPr txBox="1"/>
          <p:nvPr/>
        </p:nvSpPr>
        <p:spPr>
          <a:xfrm>
            <a:off x="363504" y="480524"/>
            <a:ext cx="837928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306"/>
              </a:spcBef>
              <a:spcAft>
                <a:spcPts val="1742"/>
              </a:spcAft>
            </a:pPr>
            <a:r>
              <a:rPr lang="fr-FR" sz="4400" b="0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ckwell Extra Bold" panose="02060903040505020403" pitchFamily="18" charset="0"/>
              </a:rPr>
              <a:t>Classification des fleurs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1A374DEC-C642-E55A-DF94-BFE3356D604E}"/>
              </a:ext>
            </a:extLst>
          </p:cNvPr>
          <p:cNvSpPr txBox="1"/>
          <p:nvPr/>
        </p:nvSpPr>
        <p:spPr>
          <a:xfrm>
            <a:off x="255234" y="1563244"/>
            <a:ext cx="11044237" cy="558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200000"/>
              </a:lnSpc>
              <a:buNone/>
            </a:pPr>
            <a:r>
              <a:rPr lang="fr-FR" b="1" i="0" dirty="0">
                <a:solidFill>
                  <a:schemeClr val="bg1"/>
                </a:solidFill>
                <a:effectLst/>
              </a:rPr>
              <a:t>Les étapes principales du projet sont :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306BEA12-965C-FB51-6FF3-923AC0078B93}"/>
              </a:ext>
            </a:extLst>
          </p:cNvPr>
          <p:cNvSpPr txBox="1"/>
          <p:nvPr/>
        </p:nvSpPr>
        <p:spPr>
          <a:xfrm>
            <a:off x="654240" y="2455795"/>
            <a:ext cx="9135220" cy="369332"/>
          </a:xfrm>
          <a:prstGeom prst="rect">
            <a:avLst/>
          </a:prstGeom>
          <a:noFill/>
          <a:ln w="28575">
            <a:solidFill>
              <a:schemeClr val="bg2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b="1" dirty="0">
                <a:solidFill>
                  <a:schemeClr val="bg1"/>
                </a:solidFill>
              </a:rPr>
              <a:t>Découpage des données en ensembles d'entraînement, validation et test,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8D3EA5D8-63CD-236A-4239-7A35A51634F1}"/>
              </a:ext>
            </a:extLst>
          </p:cNvPr>
          <p:cNvSpPr txBox="1"/>
          <p:nvPr/>
        </p:nvSpPr>
        <p:spPr>
          <a:xfrm>
            <a:off x="654240" y="3038501"/>
            <a:ext cx="9135220" cy="369332"/>
          </a:xfrm>
          <a:prstGeom prst="rect">
            <a:avLst/>
          </a:prstGeom>
          <a:noFill/>
          <a:ln w="28575">
            <a:solidFill>
              <a:schemeClr val="bg2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b="1" dirty="0">
                <a:solidFill>
                  <a:schemeClr val="bg1"/>
                </a:solidFill>
              </a:rPr>
              <a:t>Construction d’un modèle CNN (réseau de neurones convolutionnel),</a:t>
            </a:r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6A1A1707-BA0C-E34B-3517-55AF7D312C76}"/>
              </a:ext>
            </a:extLst>
          </p:cNvPr>
          <p:cNvSpPr txBox="1"/>
          <p:nvPr/>
        </p:nvSpPr>
        <p:spPr>
          <a:xfrm>
            <a:off x="654239" y="3601120"/>
            <a:ext cx="10453031" cy="369332"/>
          </a:xfrm>
          <a:prstGeom prst="rect">
            <a:avLst/>
          </a:prstGeom>
          <a:noFill/>
          <a:ln w="28575">
            <a:solidFill>
              <a:schemeClr val="bg2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b="1" dirty="0">
                <a:solidFill>
                  <a:schemeClr val="bg1"/>
                </a:solidFill>
              </a:rPr>
              <a:t>Amélioration des performances par transfert de connaissances avec le modèle VGG16,</a:t>
            </a: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FB4C6294-1BE2-67AC-434D-8C3F8B71708F}"/>
              </a:ext>
            </a:extLst>
          </p:cNvPr>
          <p:cNvSpPr txBox="1"/>
          <p:nvPr/>
        </p:nvSpPr>
        <p:spPr>
          <a:xfrm>
            <a:off x="654238" y="4790378"/>
            <a:ext cx="10453031" cy="646331"/>
          </a:xfrm>
          <a:prstGeom prst="rect">
            <a:avLst/>
          </a:prstGeom>
          <a:noFill/>
          <a:ln w="28575">
            <a:solidFill>
              <a:schemeClr val="bg2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b="1" dirty="0">
                <a:solidFill>
                  <a:schemeClr val="bg1"/>
                </a:solidFill>
              </a:rPr>
              <a:t>Enfin, la création d’une application web interactive avec Streamlit permettant de tester le modèle en téléversant une image.</a:t>
            </a:r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E3A21338-AB16-C0A4-0708-F352411CF40F}"/>
              </a:ext>
            </a:extLst>
          </p:cNvPr>
          <p:cNvSpPr txBox="1"/>
          <p:nvPr/>
        </p:nvSpPr>
        <p:spPr>
          <a:xfrm>
            <a:off x="654238" y="4233998"/>
            <a:ext cx="10453031" cy="369332"/>
          </a:xfrm>
          <a:prstGeom prst="rect">
            <a:avLst/>
          </a:prstGeom>
          <a:noFill/>
          <a:ln w="28575">
            <a:solidFill>
              <a:schemeClr val="bg2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b="1" dirty="0">
                <a:solidFill>
                  <a:schemeClr val="bg1"/>
                </a:solidFill>
              </a:rPr>
              <a:t>Evaluation du modèle à l’aide de métriques classiques (précision, matrice de confusion),</a:t>
            </a:r>
          </a:p>
        </p:txBody>
      </p:sp>
      <p:sp>
        <p:nvSpPr>
          <p:cNvPr id="41" name="Hexagone 40">
            <a:extLst>
              <a:ext uri="{FF2B5EF4-FFF2-40B4-BE49-F238E27FC236}">
                <a16:creationId xmlns:a16="http://schemas.microsoft.com/office/drawing/2014/main" id="{8726E0A6-1A5E-260E-52BC-2FDC136E01E9}"/>
              </a:ext>
            </a:extLst>
          </p:cNvPr>
          <p:cNvSpPr/>
          <p:nvPr/>
        </p:nvSpPr>
        <p:spPr>
          <a:xfrm>
            <a:off x="11225116" y="6118369"/>
            <a:ext cx="836255" cy="638115"/>
          </a:xfrm>
          <a:prstGeom prst="hexagon">
            <a:avLst>
              <a:gd name="adj" fmla="val 37833"/>
              <a:gd name="vf" fmla="val 11547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b="1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47272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6" grpId="0" animBg="1"/>
      <p:bldP spid="37" grpId="0" animBg="1"/>
      <p:bldP spid="38" grpId="0" animBg="1"/>
      <p:bldP spid="39" grpId="0" animBg="1"/>
      <p:bldP spid="4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34282A-6DD8-D3B0-166F-24AD1CAE7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9F6E097F-6010-B146-5310-8805DD346EBB}"/>
              </a:ext>
            </a:extLst>
          </p:cNvPr>
          <p:cNvSpPr txBox="1"/>
          <p:nvPr/>
        </p:nvSpPr>
        <p:spPr>
          <a:xfrm>
            <a:off x="363504" y="480524"/>
            <a:ext cx="837928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306"/>
              </a:spcBef>
              <a:spcAft>
                <a:spcPts val="1742"/>
              </a:spcAft>
            </a:pPr>
            <a:r>
              <a:rPr lang="fr-FR" sz="4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ckwell Extra Bold" panose="02060903040505020403" pitchFamily="18" charset="0"/>
              </a:rPr>
              <a:t>Découpage des données</a:t>
            </a:r>
            <a:endParaRPr lang="fr-FR" sz="4400" b="0" i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Rockwell Extra Bold" panose="02060903040505020403" pitchFamily="18" charset="0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B0C229AC-7B33-CCEF-0959-1398C7130A63}"/>
              </a:ext>
            </a:extLst>
          </p:cNvPr>
          <p:cNvSpPr txBox="1"/>
          <p:nvPr/>
        </p:nvSpPr>
        <p:spPr>
          <a:xfrm>
            <a:off x="564774" y="1392301"/>
            <a:ext cx="10582835" cy="1666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fr-FR" b="1" dirty="0">
                <a:solidFill>
                  <a:schemeClr val="bg1"/>
                </a:solidFill>
              </a:rPr>
              <a:t>Lire les images depuis le dossier Données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fr-FR" b="1" dirty="0">
                <a:solidFill>
                  <a:schemeClr val="bg1"/>
                </a:solidFill>
              </a:rPr>
              <a:t>Générer une nouvelle structure dans flower_output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fr-FR" b="1" dirty="0">
                <a:solidFill>
                  <a:schemeClr val="bg1"/>
                </a:solidFill>
              </a:rPr>
              <a:t>Les répartir automatiquement en 80 % train, 10 % validation, 10 % test 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E1D960BD-B6AE-9864-65B9-AB4042E28B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8939" b="9333"/>
          <a:stretch/>
        </p:blipFill>
        <p:spPr>
          <a:xfrm>
            <a:off x="749122" y="3429000"/>
            <a:ext cx="10693755" cy="1111040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7BDD6ABA-CA9F-0357-9BBE-7EE0C17B589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4971" y="4813168"/>
            <a:ext cx="3042443" cy="1877252"/>
          </a:xfrm>
          <a:prstGeom prst="rect">
            <a:avLst/>
          </a:prstGeom>
        </p:spPr>
      </p:pic>
      <p:sp>
        <p:nvSpPr>
          <p:cNvPr id="15" name="Hexagone 14">
            <a:extLst>
              <a:ext uri="{FF2B5EF4-FFF2-40B4-BE49-F238E27FC236}">
                <a16:creationId xmlns:a16="http://schemas.microsoft.com/office/drawing/2014/main" id="{672D4333-4C97-8AE6-B60E-F8E601C10020}"/>
              </a:ext>
            </a:extLst>
          </p:cNvPr>
          <p:cNvSpPr/>
          <p:nvPr/>
        </p:nvSpPr>
        <p:spPr>
          <a:xfrm>
            <a:off x="11225116" y="6118369"/>
            <a:ext cx="836255" cy="638115"/>
          </a:xfrm>
          <a:prstGeom prst="hexagon">
            <a:avLst>
              <a:gd name="adj" fmla="val 37833"/>
              <a:gd name="vf" fmla="val 11547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b="1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771686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4713DB-3509-DC1E-32F1-408483851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9C95B095-6156-7692-9C52-A404296FFF1A}"/>
              </a:ext>
            </a:extLst>
          </p:cNvPr>
          <p:cNvSpPr txBox="1"/>
          <p:nvPr/>
        </p:nvSpPr>
        <p:spPr>
          <a:xfrm>
            <a:off x="363504" y="480524"/>
            <a:ext cx="837928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306"/>
              </a:spcBef>
              <a:spcAft>
                <a:spcPts val="1742"/>
              </a:spcAft>
            </a:pPr>
            <a:r>
              <a:rPr lang="fr-FR" sz="4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ckwell Extra Bold" panose="02060903040505020403" pitchFamily="18" charset="0"/>
              </a:rPr>
              <a:t>Découpage des données</a:t>
            </a:r>
            <a:endParaRPr lang="fr-FR" sz="4400" b="0" i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Rockwell Extra Bold" panose="02060903040505020403" pitchFamily="18" charset="0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B43C458F-7980-CEB3-0B83-2169A2BCB3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6273"/>
          <a:stretch/>
        </p:blipFill>
        <p:spPr>
          <a:xfrm>
            <a:off x="363504" y="2000674"/>
            <a:ext cx="11601006" cy="929111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18FEBAC4-6960-0431-28B7-B315CD258793}"/>
              </a:ext>
            </a:extLst>
          </p:cNvPr>
          <p:cNvSpPr txBox="1"/>
          <p:nvPr/>
        </p:nvSpPr>
        <p:spPr>
          <a:xfrm>
            <a:off x="161365" y="1524829"/>
            <a:ext cx="30255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Bef>
                <a:spcPts val="1089"/>
              </a:spcBef>
              <a:spcAft>
                <a:spcPts val="726"/>
              </a:spcAft>
              <a:buFont typeface="Wingdings" panose="05000000000000000000" pitchFamily="2" charset="2"/>
              <a:buChar char="§"/>
            </a:pPr>
            <a:r>
              <a:rPr lang="fr-FR" b="1" i="0" dirty="0">
                <a:solidFill>
                  <a:schemeClr val="bg1"/>
                </a:solidFill>
                <a:effectLst/>
                <a:latin typeface="system-ui"/>
              </a:rPr>
              <a:t>Définition des répertoires</a:t>
            </a:r>
            <a:endParaRPr lang="fr-FR" b="0" i="0" dirty="0">
              <a:solidFill>
                <a:schemeClr val="bg1"/>
              </a:solidFill>
              <a:effectLst/>
              <a:latin typeface="system-ui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A6C40A3-AF88-8157-DB4D-BCB36795C61A}"/>
              </a:ext>
            </a:extLst>
          </p:cNvPr>
          <p:cNvSpPr txBox="1"/>
          <p:nvPr/>
        </p:nvSpPr>
        <p:spPr>
          <a:xfrm>
            <a:off x="1140248" y="6192810"/>
            <a:ext cx="30255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89"/>
              </a:spcBef>
              <a:spcAft>
                <a:spcPts val="726"/>
              </a:spcAft>
            </a:pPr>
            <a:r>
              <a:rPr lang="fr-FR" b="1" i="0" dirty="0">
                <a:solidFill>
                  <a:schemeClr val="bg1"/>
                </a:solidFill>
                <a:effectLst/>
                <a:latin typeface="system-ui"/>
              </a:rPr>
              <a:t>Générateur pour train</a:t>
            </a:r>
            <a:endParaRPr lang="fr-FR" b="0" i="0" dirty="0">
              <a:solidFill>
                <a:schemeClr val="bg1"/>
              </a:solidFill>
              <a:effectLst/>
              <a:latin typeface="system-ui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36DA6A56-7A66-211B-342F-2B04BE177DA7}"/>
              </a:ext>
            </a:extLst>
          </p:cNvPr>
          <p:cNvSpPr txBox="1"/>
          <p:nvPr/>
        </p:nvSpPr>
        <p:spPr>
          <a:xfrm>
            <a:off x="4651213" y="6166671"/>
            <a:ext cx="30255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89"/>
              </a:spcBef>
              <a:spcAft>
                <a:spcPts val="726"/>
              </a:spcAft>
            </a:pPr>
            <a:r>
              <a:rPr lang="fr-FR" b="1" i="0" dirty="0">
                <a:solidFill>
                  <a:schemeClr val="bg1"/>
                </a:solidFill>
                <a:effectLst/>
                <a:latin typeface="system-ui"/>
              </a:rPr>
              <a:t>Générateur pour le test</a:t>
            </a:r>
            <a:endParaRPr lang="fr-FR" b="0" i="0" dirty="0">
              <a:solidFill>
                <a:schemeClr val="bg1"/>
              </a:solidFill>
              <a:effectLst/>
              <a:latin typeface="system-ui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ADE39035-D724-EC33-4D52-F1B482878E81}"/>
              </a:ext>
            </a:extLst>
          </p:cNvPr>
          <p:cNvSpPr txBox="1"/>
          <p:nvPr/>
        </p:nvSpPr>
        <p:spPr>
          <a:xfrm>
            <a:off x="8162178" y="6192810"/>
            <a:ext cx="30255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89"/>
              </a:spcBef>
              <a:spcAft>
                <a:spcPts val="726"/>
              </a:spcAft>
            </a:pPr>
            <a:r>
              <a:rPr lang="fr-FR" b="1" i="0" dirty="0">
                <a:solidFill>
                  <a:schemeClr val="bg1"/>
                </a:solidFill>
                <a:effectLst/>
                <a:latin typeface="system-ui"/>
              </a:rPr>
              <a:t>Générateur pour validation</a:t>
            </a:r>
            <a:endParaRPr lang="fr-FR" b="0" i="0" dirty="0">
              <a:solidFill>
                <a:schemeClr val="bg1"/>
              </a:solidFill>
              <a:effectLst/>
              <a:latin typeface="system-ui"/>
            </a:endParaRP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0FAC89FB-F242-117C-52A6-944AD2DD497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083755" y="3680494"/>
            <a:ext cx="3025589" cy="2415165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80ACE649-CAB6-3FC8-9E71-1ACB3448863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455" y="3680494"/>
            <a:ext cx="3087385" cy="2415165"/>
          </a:xfrm>
          <a:prstGeom prst="rect">
            <a:avLst/>
          </a:prstGeom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4617989E-1573-C354-5890-CDEE49691FC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24156"/>
          <a:stretch/>
        </p:blipFill>
        <p:spPr>
          <a:xfrm>
            <a:off x="4456605" y="3680493"/>
            <a:ext cx="3087385" cy="2415166"/>
          </a:xfrm>
          <a:prstGeom prst="rect">
            <a:avLst/>
          </a:prstGeom>
        </p:spPr>
      </p:pic>
      <p:sp>
        <p:nvSpPr>
          <p:cNvPr id="22" name="ZoneTexte 21">
            <a:extLst>
              <a:ext uri="{FF2B5EF4-FFF2-40B4-BE49-F238E27FC236}">
                <a16:creationId xmlns:a16="http://schemas.microsoft.com/office/drawing/2014/main" id="{FA296D30-B407-7C6B-DA6E-9EFB45348652}"/>
              </a:ext>
            </a:extLst>
          </p:cNvPr>
          <p:cNvSpPr txBox="1"/>
          <p:nvPr/>
        </p:nvSpPr>
        <p:spPr>
          <a:xfrm>
            <a:off x="161365" y="3048349"/>
            <a:ext cx="61049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Bef>
                <a:spcPts val="1089"/>
              </a:spcBef>
              <a:spcAft>
                <a:spcPts val="1451"/>
              </a:spcAft>
              <a:buFont typeface="Wingdings" panose="05000000000000000000" pitchFamily="2" charset="2"/>
              <a:buChar char="§"/>
            </a:pPr>
            <a:r>
              <a:rPr lang="fr-FR" b="1" i="0" dirty="0">
                <a:solidFill>
                  <a:schemeClr val="bg1"/>
                </a:solidFill>
                <a:effectLst/>
                <a:latin typeface="system-ui"/>
              </a:rPr>
              <a:t>Création des Data Generators</a:t>
            </a:r>
            <a:endParaRPr lang="fr-FR" b="0" i="0" dirty="0">
              <a:solidFill>
                <a:schemeClr val="bg1"/>
              </a:solidFill>
              <a:effectLst/>
              <a:latin typeface="system-ui"/>
            </a:endParaRPr>
          </a:p>
        </p:txBody>
      </p:sp>
      <p:sp>
        <p:nvSpPr>
          <p:cNvPr id="23" name="Hexagone 22">
            <a:extLst>
              <a:ext uri="{FF2B5EF4-FFF2-40B4-BE49-F238E27FC236}">
                <a16:creationId xmlns:a16="http://schemas.microsoft.com/office/drawing/2014/main" id="{E2E40462-9092-AD6F-317B-6F11D864BE54}"/>
              </a:ext>
            </a:extLst>
          </p:cNvPr>
          <p:cNvSpPr/>
          <p:nvPr/>
        </p:nvSpPr>
        <p:spPr>
          <a:xfrm>
            <a:off x="11225116" y="6118369"/>
            <a:ext cx="836255" cy="638115"/>
          </a:xfrm>
          <a:prstGeom prst="hexagon">
            <a:avLst>
              <a:gd name="adj" fmla="val 37833"/>
              <a:gd name="vf" fmla="val 11547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b="1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553415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FCD8B-DE80-F6B7-AE1B-0B7989BA3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EDBD3D3A-E45F-5684-5DDC-5CF46E1567CF}"/>
              </a:ext>
            </a:extLst>
          </p:cNvPr>
          <p:cNvSpPr txBox="1"/>
          <p:nvPr/>
        </p:nvSpPr>
        <p:spPr>
          <a:xfrm>
            <a:off x="363504" y="480524"/>
            <a:ext cx="837928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306"/>
              </a:spcBef>
              <a:spcAft>
                <a:spcPts val="1742"/>
              </a:spcAft>
            </a:pPr>
            <a:r>
              <a:rPr lang="fr-FR" sz="4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ckwell Extra Bold" panose="02060903040505020403" pitchFamily="18" charset="0"/>
              </a:rPr>
              <a:t>Découpage des données</a:t>
            </a:r>
            <a:endParaRPr lang="fr-FR" sz="4400" b="0" i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Rockwell Extra Bold" panose="02060903040505020403" pitchFamily="18" charset="0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868ABF1F-55D3-C9D3-3D73-970654F7BC2C}"/>
              </a:ext>
            </a:extLst>
          </p:cNvPr>
          <p:cNvSpPr txBox="1"/>
          <p:nvPr/>
        </p:nvSpPr>
        <p:spPr>
          <a:xfrm>
            <a:off x="1126801" y="4606058"/>
            <a:ext cx="30255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89"/>
              </a:spcBef>
              <a:spcAft>
                <a:spcPts val="726"/>
              </a:spcAft>
            </a:pPr>
            <a:r>
              <a:rPr lang="fr-FR" b="1" i="0" dirty="0">
                <a:solidFill>
                  <a:schemeClr val="bg1"/>
                </a:solidFill>
                <a:effectLst/>
                <a:latin typeface="system-ui"/>
              </a:rPr>
              <a:t>Générateur pour train</a:t>
            </a:r>
            <a:endParaRPr lang="fr-FR" b="0" i="0" dirty="0">
              <a:solidFill>
                <a:schemeClr val="bg1"/>
              </a:solidFill>
              <a:effectLst/>
              <a:latin typeface="system-ui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D6520DD0-121F-FF03-00D4-CD7DCD49FF5B}"/>
              </a:ext>
            </a:extLst>
          </p:cNvPr>
          <p:cNvSpPr txBox="1"/>
          <p:nvPr/>
        </p:nvSpPr>
        <p:spPr>
          <a:xfrm>
            <a:off x="4637766" y="4579919"/>
            <a:ext cx="30255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89"/>
              </a:spcBef>
              <a:spcAft>
                <a:spcPts val="726"/>
              </a:spcAft>
            </a:pPr>
            <a:r>
              <a:rPr lang="fr-FR" b="1" i="0" dirty="0">
                <a:solidFill>
                  <a:schemeClr val="bg1"/>
                </a:solidFill>
                <a:effectLst/>
                <a:latin typeface="system-ui"/>
              </a:rPr>
              <a:t>Générateur pour le test</a:t>
            </a:r>
            <a:endParaRPr lang="fr-FR" b="0" i="0" dirty="0">
              <a:solidFill>
                <a:schemeClr val="bg1"/>
              </a:solidFill>
              <a:effectLst/>
              <a:latin typeface="system-ui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0EC8201A-93E7-3B3A-C574-2DFC548F9ACA}"/>
              </a:ext>
            </a:extLst>
          </p:cNvPr>
          <p:cNvSpPr txBox="1"/>
          <p:nvPr/>
        </p:nvSpPr>
        <p:spPr>
          <a:xfrm>
            <a:off x="8148731" y="4606058"/>
            <a:ext cx="30255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89"/>
              </a:spcBef>
              <a:spcAft>
                <a:spcPts val="726"/>
              </a:spcAft>
            </a:pPr>
            <a:r>
              <a:rPr lang="fr-FR" b="1" i="0" dirty="0">
                <a:solidFill>
                  <a:schemeClr val="bg1"/>
                </a:solidFill>
                <a:effectLst/>
                <a:latin typeface="system-ui"/>
              </a:rPr>
              <a:t>Générateur pour validation</a:t>
            </a:r>
            <a:endParaRPr lang="fr-FR" b="0" i="0" dirty="0">
              <a:solidFill>
                <a:schemeClr val="bg1"/>
              </a:solidFill>
              <a:effectLst/>
              <a:latin typeface="system-ui"/>
            </a:endParaRP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BCF38FCD-3ECE-2DD9-5CF7-A9192B67B8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070308" y="2093742"/>
            <a:ext cx="3025589" cy="2415165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BC24438F-4312-136D-8E88-701A0B028EE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008" y="2093742"/>
            <a:ext cx="3087385" cy="2415165"/>
          </a:xfrm>
          <a:prstGeom prst="rect">
            <a:avLst/>
          </a:prstGeom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FE358456-DD51-023B-E1AA-9FBEC7985C6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24156"/>
          <a:stretch/>
        </p:blipFill>
        <p:spPr>
          <a:xfrm>
            <a:off x="4443158" y="2093741"/>
            <a:ext cx="3087385" cy="2415166"/>
          </a:xfrm>
          <a:prstGeom prst="rect">
            <a:avLst/>
          </a:prstGeom>
        </p:spPr>
      </p:pic>
      <p:sp>
        <p:nvSpPr>
          <p:cNvPr id="22" name="ZoneTexte 21">
            <a:extLst>
              <a:ext uri="{FF2B5EF4-FFF2-40B4-BE49-F238E27FC236}">
                <a16:creationId xmlns:a16="http://schemas.microsoft.com/office/drawing/2014/main" id="{6151A024-F1E7-4540-27FD-7101B0BADBEB}"/>
              </a:ext>
            </a:extLst>
          </p:cNvPr>
          <p:cNvSpPr txBox="1"/>
          <p:nvPr/>
        </p:nvSpPr>
        <p:spPr>
          <a:xfrm>
            <a:off x="242048" y="1487187"/>
            <a:ext cx="61049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Bef>
                <a:spcPts val="1089"/>
              </a:spcBef>
              <a:spcAft>
                <a:spcPts val="1451"/>
              </a:spcAft>
              <a:buFont typeface="Wingdings" panose="05000000000000000000" pitchFamily="2" charset="2"/>
              <a:buChar char="§"/>
            </a:pPr>
            <a:r>
              <a:rPr lang="fr-FR" b="1" i="0" dirty="0">
                <a:solidFill>
                  <a:schemeClr val="bg1"/>
                </a:solidFill>
                <a:effectLst/>
                <a:latin typeface="system-ui"/>
              </a:rPr>
              <a:t>Création des Data Generators</a:t>
            </a:r>
            <a:endParaRPr lang="fr-FR" b="0" i="0" dirty="0">
              <a:solidFill>
                <a:schemeClr val="bg1"/>
              </a:solidFill>
              <a:effectLst/>
              <a:latin typeface="system-ui"/>
            </a:endParaRP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7ECAF48D-0B49-B7E8-0947-5FFD12FE33B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5841" y="5352683"/>
            <a:ext cx="7460318" cy="1191003"/>
          </a:xfrm>
          <a:prstGeom prst="rect">
            <a:avLst/>
          </a:prstGeom>
        </p:spPr>
      </p:pic>
      <p:sp>
        <p:nvSpPr>
          <p:cNvPr id="12" name="Hexagone 11">
            <a:extLst>
              <a:ext uri="{FF2B5EF4-FFF2-40B4-BE49-F238E27FC236}">
                <a16:creationId xmlns:a16="http://schemas.microsoft.com/office/drawing/2014/main" id="{574481E5-51FB-CFF4-9654-13A1F64E8E8C}"/>
              </a:ext>
            </a:extLst>
          </p:cNvPr>
          <p:cNvSpPr/>
          <p:nvPr/>
        </p:nvSpPr>
        <p:spPr>
          <a:xfrm>
            <a:off x="11225116" y="6118369"/>
            <a:ext cx="836255" cy="638115"/>
          </a:xfrm>
          <a:prstGeom prst="hexagon">
            <a:avLst>
              <a:gd name="adj" fmla="val 37833"/>
              <a:gd name="vf" fmla="val 11547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b="1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78807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DC9D4A-05B6-F781-2FBA-E40A25BA8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60034031-6FAE-3F0E-1BC4-1A598CD2F372}"/>
              </a:ext>
            </a:extLst>
          </p:cNvPr>
          <p:cNvSpPr txBox="1"/>
          <p:nvPr/>
        </p:nvSpPr>
        <p:spPr>
          <a:xfrm>
            <a:off x="363504" y="480524"/>
            <a:ext cx="837928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306"/>
              </a:spcBef>
              <a:spcAft>
                <a:spcPts val="1742"/>
              </a:spcAft>
            </a:pPr>
            <a:r>
              <a:rPr lang="fr-FR" sz="4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ckwell Extra Bold" panose="02060903040505020403" pitchFamily="18" charset="0"/>
              </a:rPr>
              <a:t>Création du modèle CNN</a:t>
            </a:r>
            <a:endParaRPr lang="fr-FR" sz="4400" b="0" i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Rockwell Extra Bold" panose="02060903040505020403" pitchFamily="18" charset="0"/>
            </a:endParaRP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FE13826C-C86F-5989-75A5-3F6BF660EA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 b="3118"/>
          <a:stretch/>
        </p:blipFill>
        <p:spPr>
          <a:xfrm>
            <a:off x="6609517" y="1583615"/>
            <a:ext cx="5230472" cy="4355942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65AEE9C2-AFD4-3E20-F7F0-DE3A3A1EB1D3}"/>
              </a:ext>
            </a:extLst>
          </p:cNvPr>
          <p:cNvSpPr txBox="1"/>
          <p:nvPr/>
        </p:nvSpPr>
        <p:spPr>
          <a:xfrm>
            <a:off x="352011" y="1835781"/>
            <a:ext cx="4689663" cy="558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fr-FR" b="1" dirty="0">
                <a:solidFill>
                  <a:schemeClr val="bg1"/>
                </a:solidFill>
              </a:rPr>
              <a:t>Première repère des bords et lignes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8971CC08-299F-A45D-E429-DDF91C3FCD3D}"/>
              </a:ext>
            </a:extLst>
          </p:cNvPr>
          <p:cNvSpPr txBox="1"/>
          <p:nvPr/>
        </p:nvSpPr>
        <p:spPr>
          <a:xfrm>
            <a:off x="295251" y="2903588"/>
            <a:ext cx="5518852" cy="869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fr-FR" b="1" dirty="0">
                <a:solidFill>
                  <a:schemeClr val="bg1"/>
                </a:solidFill>
              </a:rPr>
              <a:t>Deuxième combine ces motifs pour former des formes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4FD2C498-F69C-81DF-8D44-91610193020E}"/>
              </a:ext>
            </a:extLst>
          </p:cNvPr>
          <p:cNvSpPr txBox="1"/>
          <p:nvPr/>
        </p:nvSpPr>
        <p:spPr>
          <a:xfrm>
            <a:off x="201362" y="4025636"/>
            <a:ext cx="6447864" cy="869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fr-FR" b="1" dirty="0">
                <a:solidFill>
                  <a:schemeClr val="bg1"/>
                </a:solidFill>
              </a:rPr>
              <a:t>Troisième détecte des textures et structures complètes utiles à la classification des fleurs.</a:t>
            </a:r>
          </a:p>
        </p:txBody>
      </p:sp>
      <p:cxnSp>
        <p:nvCxnSpPr>
          <p:cNvPr id="22" name="Connecteur : en arc 21">
            <a:extLst>
              <a:ext uri="{FF2B5EF4-FFF2-40B4-BE49-F238E27FC236}">
                <a16:creationId xmlns:a16="http://schemas.microsoft.com/office/drawing/2014/main" id="{627D9F14-FAF2-A2D0-128A-695437C12B26}"/>
              </a:ext>
            </a:extLst>
          </p:cNvPr>
          <p:cNvCxnSpPr>
            <a:cxnSpLocks/>
          </p:cNvCxnSpPr>
          <p:nvPr/>
        </p:nvCxnSpPr>
        <p:spPr>
          <a:xfrm flipV="1">
            <a:off x="5010327" y="2114864"/>
            <a:ext cx="1809286" cy="199286"/>
          </a:xfrm>
          <a:prstGeom prst="curvedConnector3">
            <a:avLst>
              <a:gd name="adj1" fmla="val 50000"/>
            </a:avLst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4" name="Connecteur : en arc 33">
            <a:extLst>
              <a:ext uri="{FF2B5EF4-FFF2-40B4-BE49-F238E27FC236}">
                <a16:creationId xmlns:a16="http://schemas.microsoft.com/office/drawing/2014/main" id="{023414DD-94C5-02F5-C934-42536CE48DB7}"/>
              </a:ext>
            </a:extLst>
          </p:cNvPr>
          <p:cNvCxnSpPr>
            <a:cxnSpLocks/>
            <a:stCxn id="17" idx="3"/>
          </p:cNvCxnSpPr>
          <p:nvPr/>
        </p:nvCxnSpPr>
        <p:spPr>
          <a:xfrm flipV="1">
            <a:off x="5814103" y="3075675"/>
            <a:ext cx="1005510" cy="262808"/>
          </a:xfrm>
          <a:prstGeom prst="curvedConnector3">
            <a:avLst>
              <a:gd name="adj1" fmla="val 50000"/>
            </a:avLst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9" name="Connecteur : en arc 38">
            <a:extLst>
              <a:ext uri="{FF2B5EF4-FFF2-40B4-BE49-F238E27FC236}">
                <a16:creationId xmlns:a16="http://schemas.microsoft.com/office/drawing/2014/main" id="{836E5648-3CD1-8A06-D6DE-421F30A0B004}"/>
              </a:ext>
            </a:extLst>
          </p:cNvPr>
          <p:cNvCxnSpPr>
            <a:cxnSpLocks/>
          </p:cNvCxnSpPr>
          <p:nvPr/>
        </p:nvCxnSpPr>
        <p:spPr>
          <a:xfrm flipV="1">
            <a:off x="5582484" y="4029243"/>
            <a:ext cx="1206516" cy="431288"/>
          </a:xfrm>
          <a:prstGeom prst="curvedConnector3">
            <a:avLst>
              <a:gd name="adj1" fmla="val 50000"/>
            </a:avLst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1" name="Connecteur : en arc 40">
            <a:extLst>
              <a:ext uri="{FF2B5EF4-FFF2-40B4-BE49-F238E27FC236}">
                <a16:creationId xmlns:a16="http://schemas.microsoft.com/office/drawing/2014/main" id="{06A5AAA7-DD52-0362-0A3D-BAA9922426CF}"/>
              </a:ext>
            </a:extLst>
          </p:cNvPr>
          <p:cNvCxnSpPr>
            <a:cxnSpLocks/>
            <a:stCxn id="43" idx="3"/>
          </p:cNvCxnSpPr>
          <p:nvPr/>
        </p:nvCxnSpPr>
        <p:spPr>
          <a:xfrm flipV="1">
            <a:off x="5716954" y="4947677"/>
            <a:ext cx="1023868" cy="595621"/>
          </a:xfrm>
          <a:prstGeom prst="curvedConnector3">
            <a:avLst>
              <a:gd name="adj1" fmla="val 50000"/>
            </a:avLst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2" name="Ellipse 41">
            <a:extLst>
              <a:ext uri="{FF2B5EF4-FFF2-40B4-BE49-F238E27FC236}">
                <a16:creationId xmlns:a16="http://schemas.microsoft.com/office/drawing/2014/main" id="{8B265660-0D75-379F-BB4D-7FBFA20DEBCF}"/>
              </a:ext>
            </a:extLst>
          </p:cNvPr>
          <p:cNvSpPr/>
          <p:nvPr/>
        </p:nvSpPr>
        <p:spPr>
          <a:xfrm>
            <a:off x="6778233" y="4543851"/>
            <a:ext cx="1438836" cy="618565"/>
          </a:xfrm>
          <a:prstGeom prst="ellipse">
            <a:avLst/>
          </a:prstGeom>
          <a:noFill/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AB774A4D-E97D-091A-8E91-99D336DBC330}"/>
              </a:ext>
            </a:extLst>
          </p:cNvPr>
          <p:cNvSpPr txBox="1"/>
          <p:nvPr/>
        </p:nvSpPr>
        <p:spPr>
          <a:xfrm>
            <a:off x="215813" y="5108403"/>
            <a:ext cx="5501141" cy="869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defTabSz="914400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fr-FR" b="1" dirty="0">
                <a:solidFill>
                  <a:schemeClr val="bg1"/>
                </a:solidFill>
              </a:rPr>
              <a:t>Couche Flatten pour transformer l’image en vecteur,</a:t>
            </a:r>
          </a:p>
        </p:txBody>
      </p:sp>
      <p:sp>
        <p:nvSpPr>
          <p:cNvPr id="45" name="Hexagone 44">
            <a:extLst>
              <a:ext uri="{FF2B5EF4-FFF2-40B4-BE49-F238E27FC236}">
                <a16:creationId xmlns:a16="http://schemas.microsoft.com/office/drawing/2014/main" id="{C214A0FD-0228-1D13-197C-B4A5F9192BDE}"/>
              </a:ext>
            </a:extLst>
          </p:cNvPr>
          <p:cNvSpPr/>
          <p:nvPr/>
        </p:nvSpPr>
        <p:spPr>
          <a:xfrm>
            <a:off x="11225116" y="6118369"/>
            <a:ext cx="836255" cy="638115"/>
          </a:xfrm>
          <a:prstGeom prst="hexagon">
            <a:avLst>
              <a:gd name="adj" fmla="val 37833"/>
              <a:gd name="vf" fmla="val 11547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b="1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229768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2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2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2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19" grpId="0"/>
      <p:bldP spid="42" grpId="0" animBg="1"/>
      <p:bldP spid="4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9126C1-B23D-3F9E-FB46-38C4572ED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F75364DC-437E-85DA-85DA-2856E9A0D024}"/>
              </a:ext>
            </a:extLst>
          </p:cNvPr>
          <p:cNvSpPr txBox="1"/>
          <p:nvPr/>
        </p:nvSpPr>
        <p:spPr>
          <a:xfrm>
            <a:off x="363504" y="480524"/>
            <a:ext cx="837928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306"/>
              </a:spcBef>
              <a:spcAft>
                <a:spcPts val="1742"/>
              </a:spcAft>
            </a:pPr>
            <a:r>
              <a:rPr lang="fr-FR" sz="4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ckwell Extra Bold" panose="02060903040505020403" pitchFamily="18" charset="0"/>
              </a:rPr>
              <a:t>Création du modèle CNN</a:t>
            </a:r>
            <a:endParaRPr lang="fr-FR" sz="4400" b="0" i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Rockwell Extra Bold" panose="02060903040505020403" pitchFamily="18" charset="0"/>
            </a:endParaRP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1DEB16F5-1147-A19A-1718-C77A279675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624703" y="1410760"/>
            <a:ext cx="5230472" cy="4496118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F1D01832-C50C-57CE-E225-F47E9968BD56}"/>
              </a:ext>
            </a:extLst>
          </p:cNvPr>
          <p:cNvSpPr txBox="1"/>
          <p:nvPr/>
        </p:nvSpPr>
        <p:spPr>
          <a:xfrm>
            <a:off x="390184" y="1249965"/>
            <a:ext cx="5230472" cy="1285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defTabSz="914400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fr-FR" b="1" dirty="0">
                <a:solidFill>
                  <a:schemeClr val="bg1"/>
                </a:solidFill>
              </a:rPr>
              <a:t>MaxPooling2D pour réduire les dimensions des cartes de caractéristiques</a:t>
            </a:r>
          </a:p>
          <a:p>
            <a:pPr lvl="0" defTabSz="914400">
              <a:lnSpc>
                <a:spcPct val="150000"/>
              </a:lnSpc>
              <a:defRPr/>
            </a:pPr>
            <a:r>
              <a:rPr lang="fr-FR" dirty="0">
                <a:latin typeface="system-ui"/>
              </a:rPr>
              <a:t>                   </a:t>
            </a:r>
            <a:r>
              <a:rPr lang="fr-FR" b="1" dirty="0">
                <a:solidFill>
                  <a:schemeClr val="bg1"/>
                </a:solidFill>
                <a:latin typeface="system-ui"/>
              </a:rPr>
              <a:t> (180×180 → 90×90 → 45×45)</a:t>
            </a:r>
            <a:endParaRPr lang="fr-FR" b="1" dirty="0">
              <a:solidFill>
                <a:schemeClr val="bg1"/>
              </a:solidFill>
            </a:endParaRPr>
          </a:p>
        </p:txBody>
      </p:sp>
      <p:cxnSp>
        <p:nvCxnSpPr>
          <p:cNvPr id="22" name="Connecteur : en arc 21">
            <a:extLst>
              <a:ext uri="{FF2B5EF4-FFF2-40B4-BE49-F238E27FC236}">
                <a16:creationId xmlns:a16="http://schemas.microsoft.com/office/drawing/2014/main" id="{132F7D35-5D67-D1E2-D1F4-C73A998382DF}"/>
              </a:ext>
            </a:extLst>
          </p:cNvPr>
          <p:cNvCxnSpPr>
            <a:cxnSpLocks/>
          </p:cNvCxnSpPr>
          <p:nvPr/>
        </p:nvCxnSpPr>
        <p:spPr>
          <a:xfrm>
            <a:off x="5044072" y="1955771"/>
            <a:ext cx="1880025" cy="283647"/>
          </a:xfrm>
          <a:prstGeom prst="curvedConnector3">
            <a:avLst>
              <a:gd name="adj1" fmla="val 50000"/>
            </a:avLst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4" name="Connecteur : en arc 33">
            <a:extLst>
              <a:ext uri="{FF2B5EF4-FFF2-40B4-BE49-F238E27FC236}">
                <a16:creationId xmlns:a16="http://schemas.microsoft.com/office/drawing/2014/main" id="{CC3D771B-5EBE-134D-0758-785B0E02131D}"/>
              </a:ext>
            </a:extLst>
          </p:cNvPr>
          <p:cNvCxnSpPr>
            <a:cxnSpLocks/>
          </p:cNvCxnSpPr>
          <p:nvPr/>
        </p:nvCxnSpPr>
        <p:spPr>
          <a:xfrm>
            <a:off x="4733749" y="1892609"/>
            <a:ext cx="2190348" cy="1261209"/>
          </a:xfrm>
          <a:prstGeom prst="curvedConnector3">
            <a:avLst>
              <a:gd name="adj1" fmla="val 50000"/>
            </a:avLst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9" name="Connecteur : en arc 38">
            <a:extLst>
              <a:ext uri="{FF2B5EF4-FFF2-40B4-BE49-F238E27FC236}">
                <a16:creationId xmlns:a16="http://schemas.microsoft.com/office/drawing/2014/main" id="{67A01501-7968-7841-1DE5-93BE5BC76118}"/>
              </a:ext>
            </a:extLst>
          </p:cNvPr>
          <p:cNvCxnSpPr>
            <a:cxnSpLocks/>
          </p:cNvCxnSpPr>
          <p:nvPr/>
        </p:nvCxnSpPr>
        <p:spPr>
          <a:xfrm>
            <a:off x="4722820" y="1901864"/>
            <a:ext cx="2214722" cy="2207974"/>
          </a:xfrm>
          <a:prstGeom prst="curvedConnector3">
            <a:avLst>
              <a:gd name="adj1" fmla="val 50000"/>
            </a:avLst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3" name="ZoneTexte 22">
            <a:extLst>
              <a:ext uri="{FF2B5EF4-FFF2-40B4-BE49-F238E27FC236}">
                <a16:creationId xmlns:a16="http://schemas.microsoft.com/office/drawing/2014/main" id="{D5A84BB2-2C40-1C7D-B54F-8FE3C3AEF7CC}"/>
              </a:ext>
            </a:extLst>
          </p:cNvPr>
          <p:cNvSpPr txBox="1"/>
          <p:nvPr/>
        </p:nvSpPr>
        <p:spPr>
          <a:xfrm>
            <a:off x="363505" y="2902072"/>
            <a:ext cx="5435929" cy="1285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b="1" i="0" dirty="0">
                <a:solidFill>
                  <a:schemeClr val="bg1"/>
                </a:solidFill>
                <a:effectLst/>
              </a:rPr>
              <a:t>ReLU (Rectified Linear Unit) : </a:t>
            </a:r>
            <a:r>
              <a:rPr lang="fr-FR" b="1" dirty="0">
                <a:solidFill>
                  <a:schemeClr val="bg1"/>
                </a:solidFill>
              </a:rPr>
              <a:t>Fonction d’activation qui permet de garder uniquement les activation positive</a:t>
            </a:r>
          </a:p>
        </p:txBody>
      </p:sp>
      <p:cxnSp>
        <p:nvCxnSpPr>
          <p:cNvPr id="24" name="Connecteur : en arc 23">
            <a:extLst>
              <a:ext uri="{FF2B5EF4-FFF2-40B4-BE49-F238E27FC236}">
                <a16:creationId xmlns:a16="http://schemas.microsoft.com/office/drawing/2014/main" id="{CE6201B3-5CC2-CC3E-CFEC-03DDC2EB0AD1}"/>
              </a:ext>
            </a:extLst>
          </p:cNvPr>
          <p:cNvCxnSpPr>
            <a:cxnSpLocks/>
            <a:endCxn id="35" idx="2"/>
          </p:cNvCxnSpPr>
          <p:nvPr/>
        </p:nvCxnSpPr>
        <p:spPr>
          <a:xfrm>
            <a:off x="5044072" y="3612757"/>
            <a:ext cx="3005973" cy="1394437"/>
          </a:xfrm>
          <a:prstGeom prst="curvedConnector3">
            <a:avLst>
              <a:gd name="adj1" fmla="val 34343"/>
            </a:avLst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1" name="Ellipse 30">
            <a:extLst>
              <a:ext uri="{FF2B5EF4-FFF2-40B4-BE49-F238E27FC236}">
                <a16:creationId xmlns:a16="http://schemas.microsoft.com/office/drawing/2014/main" id="{05BC180F-2939-3F55-C3D4-0759748211EE}"/>
              </a:ext>
            </a:extLst>
          </p:cNvPr>
          <p:cNvSpPr/>
          <p:nvPr/>
        </p:nvSpPr>
        <p:spPr>
          <a:xfrm>
            <a:off x="8637061" y="3482837"/>
            <a:ext cx="1438836" cy="618565"/>
          </a:xfrm>
          <a:prstGeom prst="ellipse">
            <a:avLst/>
          </a:prstGeom>
          <a:noFill/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" name="Ellipse 31">
            <a:extLst>
              <a:ext uri="{FF2B5EF4-FFF2-40B4-BE49-F238E27FC236}">
                <a16:creationId xmlns:a16="http://schemas.microsoft.com/office/drawing/2014/main" id="{3E53327B-2782-2C93-2606-674D10C3CF0C}"/>
              </a:ext>
            </a:extLst>
          </p:cNvPr>
          <p:cNvSpPr/>
          <p:nvPr/>
        </p:nvSpPr>
        <p:spPr>
          <a:xfrm>
            <a:off x="8520521" y="2581884"/>
            <a:ext cx="1438836" cy="618565"/>
          </a:xfrm>
          <a:prstGeom prst="ellipse">
            <a:avLst/>
          </a:prstGeom>
          <a:noFill/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Ellipse 32">
            <a:extLst>
              <a:ext uri="{FF2B5EF4-FFF2-40B4-BE49-F238E27FC236}">
                <a16:creationId xmlns:a16="http://schemas.microsoft.com/office/drawing/2014/main" id="{F57A22CB-97E2-CBED-E695-8DC843147EA4}"/>
              </a:ext>
            </a:extLst>
          </p:cNvPr>
          <p:cNvSpPr/>
          <p:nvPr/>
        </p:nvSpPr>
        <p:spPr>
          <a:xfrm>
            <a:off x="8520521" y="1647622"/>
            <a:ext cx="1438836" cy="618565"/>
          </a:xfrm>
          <a:prstGeom prst="ellipse">
            <a:avLst/>
          </a:prstGeom>
          <a:noFill/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" name="Ellipse 34">
            <a:extLst>
              <a:ext uri="{FF2B5EF4-FFF2-40B4-BE49-F238E27FC236}">
                <a16:creationId xmlns:a16="http://schemas.microsoft.com/office/drawing/2014/main" id="{1A255799-1CD1-788E-FA39-14EF5553C94A}"/>
              </a:ext>
            </a:extLst>
          </p:cNvPr>
          <p:cNvSpPr/>
          <p:nvPr/>
        </p:nvSpPr>
        <p:spPr>
          <a:xfrm>
            <a:off x="8050045" y="4697911"/>
            <a:ext cx="1438836" cy="618565"/>
          </a:xfrm>
          <a:prstGeom prst="ellipse">
            <a:avLst/>
          </a:prstGeom>
          <a:noFill/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1" name="Ellipse 40">
            <a:extLst>
              <a:ext uri="{FF2B5EF4-FFF2-40B4-BE49-F238E27FC236}">
                <a16:creationId xmlns:a16="http://schemas.microsoft.com/office/drawing/2014/main" id="{AA1B680D-B262-EB63-D937-5016AA7259C1}"/>
              </a:ext>
            </a:extLst>
          </p:cNvPr>
          <p:cNvSpPr/>
          <p:nvPr/>
        </p:nvSpPr>
        <p:spPr>
          <a:xfrm>
            <a:off x="9594902" y="5007195"/>
            <a:ext cx="1610288" cy="658170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42" name="Connecteur : en arc 41">
            <a:extLst>
              <a:ext uri="{FF2B5EF4-FFF2-40B4-BE49-F238E27FC236}">
                <a16:creationId xmlns:a16="http://schemas.microsoft.com/office/drawing/2014/main" id="{38D8F93F-AFF6-ADB9-F8A2-30DFE5130417}"/>
              </a:ext>
            </a:extLst>
          </p:cNvPr>
          <p:cNvCxnSpPr>
            <a:cxnSpLocks/>
            <a:stCxn id="58" idx="3"/>
            <a:endCxn id="41" idx="6"/>
          </p:cNvCxnSpPr>
          <p:nvPr/>
        </p:nvCxnSpPr>
        <p:spPr>
          <a:xfrm>
            <a:off x="5799433" y="5282452"/>
            <a:ext cx="5405757" cy="53828"/>
          </a:xfrm>
          <a:prstGeom prst="curvedConnector5">
            <a:avLst>
              <a:gd name="adj1" fmla="val 8987"/>
              <a:gd name="adj2" fmla="val 1662029"/>
              <a:gd name="adj3" fmla="val 104229"/>
            </a:avLst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8" name="ZoneTexte 57">
            <a:extLst>
              <a:ext uri="{FF2B5EF4-FFF2-40B4-BE49-F238E27FC236}">
                <a16:creationId xmlns:a16="http://schemas.microsoft.com/office/drawing/2014/main" id="{D0B7AA19-C259-302F-7D1B-DA2AD199A97A}"/>
              </a:ext>
            </a:extLst>
          </p:cNvPr>
          <p:cNvSpPr txBox="1"/>
          <p:nvPr/>
        </p:nvSpPr>
        <p:spPr>
          <a:xfrm>
            <a:off x="363504" y="4639808"/>
            <a:ext cx="5435929" cy="1285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b="1" dirty="0">
                <a:solidFill>
                  <a:schemeClr val="bg1"/>
                </a:solidFill>
              </a:rPr>
              <a:t>la dernière Dense utilise une softmax pour produire une probabilité pour chaque classe.</a:t>
            </a:r>
          </a:p>
        </p:txBody>
      </p:sp>
      <p:sp>
        <p:nvSpPr>
          <p:cNvPr id="82" name="Hexagone 81">
            <a:extLst>
              <a:ext uri="{FF2B5EF4-FFF2-40B4-BE49-F238E27FC236}">
                <a16:creationId xmlns:a16="http://schemas.microsoft.com/office/drawing/2014/main" id="{797805DC-C954-C1FC-B3D0-C295677E31BE}"/>
              </a:ext>
            </a:extLst>
          </p:cNvPr>
          <p:cNvSpPr/>
          <p:nvPr/>
        </p:nvSpPr>
        <p:spPr>
          <a:xfrm>
            <a:off x="11225116" y="6177330"/>
            <a:ext cx="836255" cy="579154"/>
          </a:xfrm>
          <a:prstGeom prst="hexagon">
            <a:avLst>
              <a:gd name="adj" fmla="val 37833"/>
              <a:gd name="vf" fmla="val 11547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b="1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056774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1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4" dur="1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1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1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3" dur="1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6" dur="1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3" grpId="0"/>
      <p:bldP spid="31" grpId="0" animBg="1"/>
      <p:bldP spid="32" grpId="0" animBg="1"/>
      <p:bldP spid="33" grpId="0" animBg="1"/>
      <p:bldP spid="35" grpId="0" animBg="1"/>
      <p:bldP spid="41" grpId="0" animBg="1"/>
      <p:bldP spid="5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D0AAD-B3A4-E19B-472A-AF9D178E4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2930E2F8-65EA-0AC4-B008-1AC51B6D5B2B}"/>
              </a:ext>
            </a:extLst>
          </p:cNvPr>
          <p:cNvSpPr txBox="1"/>
          <p:nvPr/>
        </p:nvSpPr>
        <p:spPr>
          <a:xfrm>
            <a:off x="363504" y="480524"/>
            <a:ext cx="837928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306"/>
              </a:spcBef>
              <a:spcAft>
                <a:spcPts val="1742"/>
              </a:spcAft>
            </a:pPr>
            <a:r>
              <a:rPr lang="fr-FR" sz="4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ckwell Extra Bold" panose="02060903040505020403" pitchFamily="18" charset="0"/>
              </a:rPr>
              <a:t>Compilation du modèle</a:t>
            </a:r>
            <a:endParaRPr lang="fr-FR" sz="4400" b="0" i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Rockwell Extra Bold" panose="02060903040505020403" pitchFamily="18" charset="0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D75B643E-E069-1C40-FE01-F79B8AC0A9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504" y="1619233"/>
            <a:ext cx="6493450" cy="1120975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7DE8D224-65A4-5EC7-9D78-3D6BFAFDF8CD}"/>
              </a:ext>
            </a:extLst>
          </p:cNvPr>
          <p:cNvSpPr txBox="1"/>
          <p:nvPr/>
        </p:nvSpPr>
        <p:spPr>
          <a:xfrm>
            <a:off x="7530353" y="1499887"/>
            <a:ext cx="45316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b="1" i="0" dirty="0">
                <a:solidFill>
                  <a:schemeClr val="bg1"/>
                </a:solidFill>
                <a:effectLst/>
              </a:rPr>
              <a:t>Categorical Cross entropy (log-</a:t>
            </a:r>
            <a:r>
              <a:rPr lang="fr-FR" b="1" i="0" dirty="0" err="1">
                <a:solidFill>
                  <a:schemeClr val="bg1"/>
                </a:solidFill>
                <a:effectLst/>
              </a:rPr>
              <a:t>loss</a:t>
            </a:r>
            <a:r>
              <a:rPr lang="fr-FR" b="1" i="0" dirty="0">
                <a:solidFill>
                  <a:schemeClr val="bg1"/>
                </a:solidFill>
                <a:effectLst/>
              </a:rPr>
              <a:t>) </a:t>
            </a:r>
            <a:endParaRPr lang="fr-FR" b="1" dirty="0">
              <a:solidFill>
                <a:schemeClr val="bg1"/>
              </a:solidFill>
            </a:endParaRPr>
          </a:p>
        </p:txBody>
      </p:sp>
      <p:cxnSp>
        <p:nvCxnSpPr>
          <p:cNvPr id="7" name="Connecteur : en arc 6">
            <a:extLst>
              <a:ext uri="{FF2B5EF4-FFF2-40B4-BE49-F238E27FC236}">
                <a16:creationId xmlns:a16="http://schemas.microsoft.com/office/drawing/2014/main" id="{079C06E0-618A-C5AB-7E0F-E90EC19D0D0D}"/>
              </a:ext>
            </a:extLst>
          </p:cNvPr>
          <p:cNvCxnSpPr>
            <a:cxnSpLocks/>
            <a:stCxn id="5" idx="1"/>
          </p:cNvCxnSpPr>
          <p:nvPr/>
        </p:nvCxnSpPr>
        <p:spPr>
          <a:xfrm rot="10800000" flipV="1">
            <a:off x="5943601" y="1684553"/>
            <a:ext cx="1586753" cy="498370"/>
          </a:xfrm>
          <a:prstGeom prst="curvedConnector3">
            <a:avLst>
              <a:gd name="adj1" fmla="val 20339"/>
            </a:avLst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5" name="ZoneTexte 24">
            <a:extLst>
              <a:ext uri="{FF2B5EF4-FFF2-40B4-BE49-F238E27FC236}">
                <a16:creationId xmlns:a16="http://schemas.microsoft.com/office/drawing/2014/main" id="{0172754A-12C3-2AEA-799C-47B519F375D0}"/>
              </a:ext>
            </a:extLst>
          </p:cNvPr>
          <p:cNvSpPr txBox="1"/>
          <p:nvPr/>
        </p:nvSpPr>
        <p:spPr>
          <a:xfrm>
            <a:off x="7530353" y="2119141"/>
            <a:ext cx="37786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b="1" dirty="0">
                <a:solidFill>
                  <a:schemeClr val="bg1"/>
                </a:solidFill>
              </a:rPr>
              <a:t>L</a:t>
            </a:r>
            <a:r>
              <a:rPr lang="fr-FR" b="1" i="0" dirty="0">
                <a:solidFill>
                  <a:schemeClr val="bg1"/>
                </a:solidFill>
                <a:effectLst/>
              </a:rPr>
              <a:t>e </a:t>
            </a:r>
            <a:r>
              <a:rPr lang="fr-FR" b="1" dirty="0">
                <a:solidFill>
                  <a:schemeClr val="bg1"/>
                </a:solidFill>
              </a:rPr>
              <a:t> </a:t>
            </a:r>
            <a:r>
              <a:rPr lang="fr-FR" b="1" i="0" dirty="0">
                <a:solidFill>
                  <a:schemeClr val="bg1"/>
                </a:solidFill>
                <a:effectLst/>
              </a:rPr>
              <a:t>% d’images bien classées</a:t>
            </a:r>
            <a:endParaRPr lang="fr-FR" b="1" dirty="0">
              <a:solidFill>
                <a:schemeClr val="bg1"/>
              </a:solidFill>
            </a:endParaRPr>
          </a:p>
        </p:txBody>
      </p:sp>
      <p:cxnSp>
        <p:nvCxnSpPr>
          <p:cNvPr id="26" name="Connecteur : en arc 25">
            <a:extLst>
              <a:ext uri="{FF2B5EF4-FFF2-40B4-BE49-F238E27FC236}">
                <a16:creationId xmlns:a16="http://schemas.microsoft.com/office/drawing/2014/main" id="{B7F75735-8F19-9713-39C8-B92037CD2C01}"/>
              </a:ext>
            </a:extLst>
          </p:cNvPr>
          <p:cNvCxnSpPr>
            <a:cxnSpLocks/>
            <a:stCxn id="25" idx="1"/>
          </p:cNvCxnSpPr>
          <p:nvPr/>
        </p:nvCxnSpPr>
        <p:spPr>
          <a:xfrm rot="10800000" flipV="1">
            <a:off x="4450977" y="2303807"/>
            <a:ext cx="3079377" cy="184666"/>
          </a:xfrm>
          <a:prstGeom prst="curvedConnector3">
            <a:avLst>
              <a:gd name="adj1" fmla="val 29039"/>
            </a:avLst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0" name="ZoneTexte 59">
            <a:extLst>
              <a:ext uri="{FF2B5EF4-FFF2-40B4-BE49-F238E27FC236}">
                <a16:creationId xmlns:a16="http://schemas.microsoft.com/office/drawing/2014/main" id="{7176B4B6-4F78-5AE9-28D5-F5C2084FF2E4}"/>
              </a:ext>
            </a:extLst>
          </p:cNvPr>
          <p:cNvSpPr txBox="1"/>
          <p:nvPr/>
        </p:nvSpPr>
        <p:spPr>
          <a:xfrm>
            <a:off x="363504" y="3068207"/>
            <a:ext cx="912471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306"/>
              </a:spcBef>
              <a:spcAft>
                <a:spcPts val="1742"/>
              </a:spcAft>
            </a:pPr>
            <a:r>
              <a:rPr lang="fr-FR" sz="4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ckwell Extra Bold" panose="02060903040505020403" pitchFamily="18" charset="0"/>
              </a:rPr>
              <a:t>Entraînement du modèle</a:t>
            </a:r>
            <a:endParaRPr lang="fr-FR" sz="4400" b="0" i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Rockwell Extra Bold" panose="02060903040505020403" pitchFamily="18" charset="0"/>
            </a:endParaRPr>
          </a:p>
        </p:txBody>
      </p:sp>
      <p:pic>
        <p:nvPicPr>
          <p:cNvPr id="62" name="Image 61">
            <a:extLst>
              <a:ext uri="{FF2B5EF4-FFF2-40B4-BE49-F238E27FC236}">
                <a16:creationId xmlns:a16="http://schemas.microsoft.com/office/drawing/2014/main" id="{8FCE9758-D8ED-DCCD-53FA-40D74C763D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 r="8462"/>
          <a:stretch/>
        </p:blipFill>
        <p:spPr>
          <a:xfrm>
            <a:off x="363504" y="4099409"/>
            <a:ext cx="5405284" cy="1561803"/>
          </a:xfrm>
          <a:prstGeom prst="rect">
            <a:avLst/>
          </a:prstGeom>
        </p:spPr>
      </p:pic>
      <p:sp>
        <p:nvSpPr>
          <p:cNvPr id="64" name="ZoneTexte 63">
            <a:extLst>
              <a:ext uri="{FF2B5EF4-FFF2-40B4-BE49-F238E27FC236}">
                <a16:creationId xmlns:a16="http://schemas.microsoft.com/office/drawing/2014/main" id="{180812DE-5EEC-C975-2075-C0E09406A04B}"/>
              </a:ext>
            </a:extLst>
          </p:cNvPr>
          <p:cNvSpPr txBox="1"/>
          <p:nvPr/>
        </p:nvSpPr>
        <p:spPr>
          <a:xfrm>
            <a:off x="2637820" y="5814892"/>
            <a:ext cx="6104964" cy="869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b="1" i="0" dirty="0">
                <a:solidFill>
                  <a:schemeClr val="bg1"/>
                </a:solidFill>
                <a:effectLst/>
              </a:rPr>
              <a:t>Le modèle est entraîné pendant 10 époques sur les données d'entraînement</a:t>
            </a:r>
            <a:endParaRPr lang="fr-FR" b="1" dirty="0">
              <a:solidFill>
                <a:schemeClr val="bg1"/>
              </a:solidFill>
            </a:endParaRPr>
          </a:p>
        </p:txBody>
      </p:sp>
      <p:cxnSp>
        <p:nvCxnSpPr>
          <p:cNvPr id="65" name="Connecteur : en arc 64">
            <a:extLst>
              <a:ext uri="{FF2B5EF4-FFF2-40B4-BE49-F238E27FC236}">
                <a16:creationId xmlns:a16="http://schemas.microsoft.com/office/drawing/2014/main" id="{37739ED6-F575-20E8-CAC2-46989E018667}"/>
              </a:ext>
            </a:extLst>
          </p:cNvPr>
          <p:cNvCxnSpPr>
            <a:cxnSpLocks/>
          </p:cNvCxnSpPr>
          <p:nvPr/>
        </p:nvCxnSpPr>
        <p:spPr>
          <a:xfrm rot="16200000" flipV="1">
            <a:off x="2144306" y="5395524"/>
            <a:ext cx="693307" cy="531375"/>
          </a:xfrm>
          <a:prstGeom prst="curvedConnector3">
            <a:avLst>
              <a:gd name="adj1" fmla="val 50000"/>
            </a:avLst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4" name="ZoneTexte 73">
            <a:extLst>
              <a:ext uri="{FF2B5EF4-FFF2-40B4-BE49-F238E27FC236}">
                <a16:creationId xmlns:a16="http://schemas.microsoft.com/office/drawing/2014/main" id="{BE70ED56-4314-55EF-4448-8BC82C1B4C66}"/>
              </a:ext>
            </a:extLst>
          </p:cNvPr>
          <p:cNvSpPr txBox="1"/>
          <p:nvPr/>
        </p:nvSpPr>
        <p:spPr>
          <a:xfrm>
            <a:off x="6556756" y="4336961"/>
            <a:ext cx="5405284" cy="869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fr-FR" b="1" i="0" dirty="0">
                <a:solidFill>
                  <a:schemeClr val="bg1"/>
                </a:solidFill>
                <a:effectLst/>
              </a:rPr>
              <a:t>La fonction model.fit() entraîne le modèle lui montrant les images plusieurs fois</a:t>
            </a:r>
          </a:p>
        </p:txBody>
      </p:sp>
      <p:cxnSp>
        <p:nvCxnSpPr>
          <p:cNvPr id="75" name="Connecteur : en arc 74">
            <a:extLst>
              <a:ext uri="{FF2B5EF4-FFF2-40B4-BE49-F238E27FC236}">
                <a16:creationId xmlns:a16="http://schemas.microsoft.com/office/drawing/2014/main" id="{B5D6580D-C670-FB24-E0B7-63222DCF0E3A}"/>
              </a:ext>
            </a:extLst>
          </p:cNvPr>
          <p:cNvCxnSpPr>
            <a:cxnSpLocks/>
          </p:cNvCxnSpPr>
          <p:nvPr/>
        </p:nvCxnSpPr>
        <p:spPr>
          <a:xfrm rot="10800000">
            <a:off x="1967756" y="4299797"/>
            <a:ext cx="4589000" cy="350868"/>
          </a:xfrm>
          <a:prstGeom prst="curvedConnector3">
            <a:avLst>
              <a:gd name="adj1" fmla="val 34470"/>
            </a:avLst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0" name="Hexagone 79">
            <a:extLst>
              <a:ext uri="{FF2B5EF4-FFF2-40B4-BE49-F238E27FC236}">
                <a16:creationId xmlns:a16="http://schemas.microsoft.com/office/drawing/2014/main" id="{F057EDC1-DDC5-6991-286E-FD4C86AC4759}"/>
              </a:ext>
            </a:extLst>
          </p:cNvPr>
          <p:cNvSpPr/>
          <p:nvPr/>
        </p:nvSpPr>
        <p:spPr>
          <a:xfrm>
            <a:off x="11225116" y="6118369"/>
            <a:ext cx="836255" cy="638115"/>
          </a:xfrm>
          <a:prstGeom prst="hexagon">
            <a:avLst>
              <a:gd name="adj" fmla="val 37833"/>
              <a:gd name="vf" fmla="val 11547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b="1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190578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5" grpId="0"/>
      <p:bldP spid="64" grpId="0"/>
      <p:bldP spid="7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921C3-6A3A-A880-336B-1C4DABE17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792D5293-8215-981B-8799-767633326908}"/>
              </a:ext>
            </a:extLst>
          </p:cNvPr>
          <p:cNvSpPr txBox="1"/>
          <p:nvPr/>
        </p:nvSpPr>
        <p:spPr>
          <a:xfrm>
            <a:off x="363504" y="480524"/>
            <a:ext cx="837928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306"/>
              </a:spcBef>
              <a:spcAft>
                <a:spcPts val="1742"/>
              </a:spcAft>
            </a:pPr>
            <a:r>
              <a:rPr lang="fr-FR" sz="4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ckwell Extra Bold" panose="02060903040505020403" pitchFamily="18" charset="0"/>
              </a:rPr>
              <a:t>Evaluation du modèle</a:t>
            </a:r>
            <a:endParaRPr lang="fr-FR" sz="4400" b="0" i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Rockwell Extra Bold" panose="02060903040505020403" pitchFamily="18" charset="0"/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0B0CF31A-B13D-6C20-BC4F-F55B38FF1E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 r="19159" b="2991"/>
          <a:stretch/>
        </p:blipFill>
        <p:spPr>
          <a:xfrm>
            <a:off x="6905427" y="1691270"/>
            <a:ext cx="4923069" cy="739941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DBC61313-B711-C1AD-CC26-A4BEDB9CC7F3}"/>
              </a:ext>
            </a:extLst>
          </p:cNvPr>
          <p:cNvSpPr txBox="1"/>
          <p:nvPr/>
        </p:nvSpPr>
        <p:spPr>
          <a:xfrm>
            <a:off x="363504" y="1418597"/>
            <a:ext cx="6104964" cy="1285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b="1" dirty="0">
                <a:solidFill>
                  <a:schemeClr val="bg1"/>
                </a:solidFill>
              </a:rPr>
              <a:t>Evaluation du modèle sur le jeu de test (les images de test que le modèle n’a jamais vues avant) en utilisant model.evaluate()</a:t>
            </a:r>
          </a:p>
        </p:txBody>
      </p:sp>
      <p:cxnSp>
        <p:nvCxnSpPr>
          <p:cNvPr id="11" name="Connecteur : en arc 10">
            <a:extLst>
              <a:ext uri="{FF2B5EF4-FFF2-40B4-BE49-F238E27FC236}">
                <a16:creationId xmlns:a16="http://schemas.microsoft.com/office/drawing/2014/main" id="{4DFFD47A-62A6-A86A-BB54-646CC6B798C0}"/>
              </a:ext>
            </a:extLst>
          </p:cNvPr>
          <p:cNvCxnSpPr>
            <a:cxnSpLocks/>
            <a:stCxn id="10" idx="3"/>
            <a:endCxn id="8" idx="0"/>
          </p:cNvCxnSpPr>
          <p:nvPr/>
        </p:nvCxnSpPr>
        <p:spPr>
          <a:xfrm flipV="1">
            <a:off x="6468468" y="1691270"/>
            <a:ext cx="2898494" cy="369971"/>
          </a:xfrm>
          <a:prstGeom prst="curvedConnector4">
            <a:avLst>
              <a:gd name="adj1" fmla="val 10786"/>
              <a:gd name="adj2" fmla="val 235490"/>
            </a:avLst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6" name="ZoneTexte 35">
            <a:extLst>
              <a:ext uri="{FF2B5EF4-FFF2-40B4-BE49-F238E27FC236}">
                <a16:creationId xmlns:a16="http://schemas.microsoft.com/office/drawing/2014/main" id="{49FC4E2B-D20E-ED95-03FD-2BCC0AD38DCE}"/>
              </a:ext>
            </a:extLst>
          </p:cNvPr>
          <p:cNvSpPr txBox="1"/>
          <p:nvPr/>
        </p:nvSpPr>
        <p:spPr>
          <a:xfrm>
            <a:off x="363504" y="3005849"/>
            <a:ext cx="837928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306"/>
              </a:spcBef>
              <a:spcAft>
                <a:spcPts val="1742"/>
              </a:spcAft>
            </a:pPr>
            <a:r>
              <a:rPr lang="fr-FR" sz="4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ckwell Extra Bold" panose="02060903040505020403" pitchFamily="18" charset="0"/>
              </a:rPr>
              <a:t>Analyse des résultats</a:t>
            </a:r>
            <a:endParaRPr lang="fr-FR" sz="4400" b="0" i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Rockwell Extra Bold" panose="02060903040505020403" pitchFamily="18" charset="0"/>
            </a:endParaRPr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73262559-2866-E2B2-B98B-95DBDD071B8E}"/>
              </a:ext>
            </a:extLst>
          </p:cNvPr>
          <p:cNvSpPr txBox="1"/>
          <p:nvPr/>
        </p:nvSpPr>
        <p:spPr>
          <a:xfrm>
            <a:off x="363504" y="4077254"/>
            <a:ext cx="6104964" cy="1285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b="1" i="0" dirty="0">
                <a:solidFill>
                  <a:schemeClr val="bg1"/>
                </a:solidFill>
                <a:effectLst/>
              </a:rPr>
              <a:t>CNN simple, nous avons obtenu une précision de seulement 3</a:t>
            </a:r>
            <a:r>
              <a:rPr lang="fr-FR" b="1" dirty="0">
                <a:solidFill>
                  <a:schemeClr val="bg1"/>
                </a:solidFill>
              </a:rPr>
              <a:t>5</a:t>
            </a:r>
            <a:r>
              <a:rPr lang="fr-FR" b="1" i="0" dirty="0">
                <a:solidFill>
                  <a:schemeClr val="bg1"/>
                </a:solidFill>
                <a:effectLst/>
              </a:rPr>
              <a:t> % sur les données de test, ce qui indique une faible capacité de généralisation.</a:t>
            </a:r>
          </a:p>
        </p:txBody>
      </p:sp>
      <p:pic>
        <p:nvPicPr>
          <p:cNvPr id="43" name="Image 42">
            <a:extLst>
              <a:ext uri="{FF2B5EF4-FFF2-40B4-BE49-F238E27FC236}">
                <a16:creationId xmlns:a16="http://schemas.microsoft.com/office/drawing/2014/main" id="{7FE764DE-D580-CA3B-5A03-E9EB3FF39F1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536185" y="4066866"/>
            <a:ext cx="5292311" cy="1844473"/>
          </a:xfrm>
          <a:prstGeom prst="rect">
            <a:avLst/>
          </a:prstGeom>
        </p:spPr>
      </p:pic>
      <p:cxnSp>
        <p:nvCxnSpPr>
          <p:cNvPr id="45" name="Connecteur : en arc 44">
            <a:extLst>
              <a:ext uri="{FF2B5EF4-FFF2-40B4-BE49-F238E27FC236}">
                <a16:creationId xmlns:a16="http://schemas.microsoft.com/office/drawing/2014/main" id="{5A99BA18-1F7A-045D-8D81-A3C8D558486E}"/>
              </a:ext>
            </a:extLst>
          </p:cNvPr>
          <p:cNvCxnSpPr>
            <a:cxnSpLocks/>
            <a:stCxn id="38" idx="2"/>
            <a:endCxn id="43" idx="2"/>
          </p:cNvCxnSpPr>
          <p:nvPr/>
        </p:nvCxnSpPr>
        <p:spPr>
          <a:xfrm rot="16200000" flipH="1">
            <a:off x="6024765" y="2753762"/>
            <a:ext cx="548797" cy="5766355"/>
          </a:xfrm>
          <a:prstGeom prst="curvedConnector3">
            <a:avLst>
              <a:gd name="adj1" fmla="val 141655"/>
            </a:avLst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0" name="Hexagone 49">
            <a:extLst>
              <a:ext uri="{FF2B5EF4-FFF2-40B4-BE49-F238E27FC236}">
                <a16:creationId xmlns:a16="http://schemas.microsoft.com/office/drawing/2014/main" id="{C9F0238E-C4F0-62FE-E1EB-2E81B8E56457}"/>
              </a:ext>
            </a:extLst>
          </p:cNvPr>
          <p:cNvSpPr/>
          <p:nvPr/>
        </p:nvSpPr>
        <p:spPr>
          <a:xfrm>
            <a:off x="11225116" y="6118369"/>
            <a:ext cx="836255" cy="638115"/>
          </a:xfrm>
          <a:prstGeom prst="hexagon">
            <a:avLst>
              <a:gd name="adj" fmla="val 35694"/>
              <a:gd name="vf" fmla="val 11547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01874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3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2832B-670C-5709-D86C-AF696027B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69A8361F-3AFB-9926-AEDB-88865D917079}"/>
              </a:ext>
            </a:extLst>
          </p:cNvPr>
          <p:cNvSpPr txBox="1"/>
          <p:nvPr/>
        </p:nvSpPr>
        <p:spPr>
          <a:xfrm>
            <a:off x="363504" y="480524"/>
            <a:ext cx="837928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306"/>
              </a:spcBef>
              <a:spcAft>
                <a:spcPts val="1742"/>
              </a:spcAft>
            </a:pPr>
            <a:r>
              <a:rPr lang="fr-FR" sz="4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ckwell Extra Bold" panose="02060903040505020403" pitchFamily="18" charset="0"/>
              </a:rPr>
              <a:t>Data augmentation</a:t>
            </a:r>
            <a:endParaRPr lang="fr-FR" sz="4400" b="0" i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Rockwell Extra Bold" panose="02060903040505020403" pitchFamily="18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6DCB3FD9-5879-D1BB-DE1A-DB8127BE4931}"/>
              </a:ext>
            </a:extLst>
          </p:cNvPr>
          <p:cNvSpPr txBox="1"/>
          <p:nvPr/>
        </p:nvSpPr>
        <p:spPr>
          <a:xfrm>
            <a:off x="363504" y="1572870"/>
            <a:ext cx="5875930" cy="869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b="1" dirty="0">
                <a:solidFill>
                  <a:schemeClr val="bg1"/>
                </a:solidFill>
                <a:latin typeface="+mj-lt"/>
              </a:rPr>
              <a:t>A</a:t>
            </a:r>
            <a:r>
              <a:rPr lang="fr-FR" b="1" i="0" dirty="0">
                <a:solidFill>
                  <a:schemeClr val="bg1"/>
                </a:solidFill>
                <a:effectLst/>
                <a:latin typeface="+mj-lt"/>
              </a:rPr>
              <a:t> l’aide du module ImageDataGenerator de Keras sur les images d’entraînement. </a:t>
            </a:r>
            <a:endParaRPr lang="fr-FR" b="1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2CD8578-6471-C284-204F-141567B779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 l="3334" b="2411"/>
          <a:stretch/>
        </p:blipFill>
        <p:spPr>
          <a:xfrm>
            <a:off x="6629401" y="1441001"/>
            <a:ext cx="5199095" cy="3265470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66CB50C2-3BC0-F1EA-212D-CA82A8B48831}"/>
              </a:ext>
            </a:extLst>
          </p:cNvPr>
          <p:cNvSpPr txBox="1"/>
          <p:nvPr/>
        </p:nvSpPr>
        <p:spPr>
          <a:xfrm>
            <a:off x="329454" y="3429000"/>
            <a:ext cx="6104964" cy="1285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b="1" i="0" dirty="0">
                <a:solidFill>
                  <a:schemeClr val="bg1"/>
                </a:solidFill>
                <a:effectLst/>
              </a:rPr>
              <a:t>Malgré l’ajout de data augmentation, les performances du modèle CNN simple sont restées insuffisantes, 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F994E4B6-CD41-226E-51F7-8185F5053C44}"/>
              </a:ext>
            </a:extLst>
          </p:cNvPr>
          <p:cNvSpPr txBox="1"/>
          <p:nvPr/>
        </p:nvSpPr>
        <p:spPr>
          <a:xfrm>
            <a:off x="1226983" y="2842903"/>
            <a:ext cx="433561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306"/>
              </a:spcBef>
              <a:spcAft>
                <a:spcPts val="1742"/>
              </a:spcAft>
            </a:pPr>
            <a:r>
              <a:rPr lang="fr-F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nap ITC" panose="04040A07060A02020202" pitchFamily="82" charset="0"/>
              </a:rPr>
              <a:t>Malheureusement !!</a:t>
            </a:r>
            <a:endParaRPr lang="fr-FR" sz="2400" b="0" i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nap ITC" panose="04040A07060A02020202" pitchFamily="82" charset="0"/>
            </a:endParaRPr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0E006958-5452-8DD6-6321-6AF9D309E7E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751294" y="5029376"/>
            <a:ext cx="4249270" cy="1267927"/>
          </a:xfrm>
          <a:prstGeom prst="rect">
            <a:avLst/>
          </a:prstGeom>
        </p:spPr>
      </p:pic>
      <p:sp>
        <p:nvSpPr>
          <p:cNvPr id="22" name="ZoneTexte 21">
            <a:extLst>
              <a:ext uri="{FF2B5EF4-FFF2-40B4-BE49-F238E27FC236}">
                <a16:creationId xmlns:a16="http://schemas.microsoft.com/office/drawing/2014/main" id="{AB39992F-45F6-F286-E485-F587ECC1AF42}"/>
              </a:ext>
            </a:extLst>
          </p:cNvPr>
          <p:cNvSpPr txBox="1"/>
          <p:nvPr/>
        </p:nvSpPr>
        <p:spPr>
          <a:xfrm>
            <a:off x="329454" y="4849946"/>
            <a:ext cx="4054287" cy="1285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b="1" dirty="0">
                <a:solidFill>
                  <a:schemeClr val="bg1"/>
                </a:solidFill>
              </a:rPr>
              <a:t>A</a:t>
            </a:r>
            <a:r>
              <a:rPr lang="fr-FR" b="1" i="0" dirty="0">
                <a:solidFill>
                  <a:schemeClr val="bg1"/>
                </a:solidFill>
                <a:effectLst/>
              </a:rPr>
              <a:t>vec une précision en test 33 % même inférieure à la version de base</a:t>
            </a:r>
          </a:p>
        </p:txBody>
      </p:sp>
      <p:cxnSp>
        <p:nvCxnSpPr>
          <p:cNvPr id="23" name="Connecteur : en arc 22">
            <a:extLst>
              <a:ext uri="{FF2B5EF4-FFF2-40B4-BE49-F238E27FC236}">
                <a16:creationId xmlns:a16="http://schemas.microsoft.com/office/drawing/2014/main" id="{D2302697-9F9A-7745-C160-B5C5619D8461}"/>
              </a:ext>
            </a:extLst>
          </p:cNvPr>
          <p:cNvCxnSpPr>
            <a:cxnSpLocks/>
            <a:stCxn id="22" idx="2"/>
            <a:endCxn id="19" idx="2"/>
          </p:cNvCxnSpPr>
          <p:nvPr/>
        </p:nvCxnSpPr>
        <p:spPr>
          <a:xfrm rot="16200000" flipH="1">
            <a:off x="4535229" y="3956602"/>
            <a:ext cx="162069" cy="4519331"/>
          </a:xfrm>
          <a:prstGeom prst="curvedConnector3">
            <a:avLst>
              <a:gd name="adj1" fmla="val 241051"/>
            </a:avLst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7" name="Hexagone 26">
            <a:extLst>
              <a:ext uri="{FF2B5EF4-FFF2-40B4-BE49-F238E27FC236}">
                <a16:creationId xmlns:a16="http://schemas.microsoft.com/office/drawing/2014/main" id="{95BE2D40-8A25-B096-C943-BBD0932BD446}"/>
              </a:ext>
            </a:extLst>
          </p:cNvPr>
          <p:cNvSpPr/>
          <p:nvPr/>
        </p:nvSpPr>
        <p:spPr>
          <a:xfrm>
            <a:off x="11225116" y="6118369"/>
            <a:ext cx="836255" cy="638115"/>
          </a:xfrm>
          <a:prstGeom prst="hexagon">
            <a:avLst>
              <a:gd name="adj" fmla="val 35694"/>
              <a:gd name="vf" fmla="val 11547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/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079219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0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13" grpId="0"/>
      <p:bldP spid="2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8824CB-A0F2-E9E9-1D71-1822F831A8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A5F0B0F9-3D0B-BBF2-D0A1-9CCB8BBF7BA8}"/>
              </a:ext>
            </a:extLst>
          </p:cNvPr>
          <p:cNvSpPr txBox="1"/>
          <p:nvPr/>
        </p:nvSpPr>
        <p:spPr>
          <a:xfrm>
            <a:off x="363504" y="480524"/>
            <a:ext cx="837928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306"/>
              </a:spcBef>
              <a:spcAft>
                <a:spcPts val="1742"/>
              </a:spcAft>
            </a:pPr>
            <a:r>
              <a:rPr lang="fr-FR" sz="4400" b="0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ckwell Extra Bold" panose="02060903040505020403" pitchFamily="18" charset="0"/>
              </a:rPr>
              <a:t>Transfer Learning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60755010-A5B3-8020-D743-B6FC7424B457}"/>
              </a:ext>
            </a:extLst>
          </p:cNvPr>
          <p:cNvSpPr txBox="1"/>
          <p:nvPr/>
        </p:nvSpPr>
        <p:spPr>
          <a:xfrm>
            <a:off x="363504" y="1536558"/>
            <a:ext cx="61049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2000" b="1" dirty="0">
                <a:solidFill>
                  <a:schemeClr val="bg1"/>
                </a:solidFill>
              </a:rPr>
              <a:t>Utilisation des réseaux pré-entraînés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8129A5F1-9759-45AE-72DA-89050D153C3E}"/>
              </a:ext>
            </a:extLst>
          </p:cNvPr>
          <p:cNvSpPr txBox="1"/>
          <p:nvPr/>
        </p:nvSpPr>
        <p:spPr>
          <a:xfrm>
            <a:off x="363504" y="2223261"/>
            <a:ext cx="11348884" cy="869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b="1" i="0" dirty="0">
                <a:solidFill>
                  <a:schemeClr val="bg1"/>
                </a:solidFill>
                <a:effectLst/>
                <a:latin typeface="+mj-lt"/>
              </a:rPr>
              <a:t>Pour améliorer significativement la capacité du modèle à généraliser, nous allons alors adopter une stratégie de Transfer Learning.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A7EE88E5-D6A7-86C2-AD7D-F55301D69A08}"/>
              </a:ext>
            </a:extLst>
          </p:cNvPr>
          <p:cNvSpPr txBox="1"/>
          <p:nvPr/>
        </p:nvSpPr>
        <p:spPr>
          <a:xfrm>
            <a:off x="363503" y="3330055"/>
            <a:ext cx="9143567" cy="869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b="1" dirty="0">
                <a:solidFill>
                  <a:schemeClr val="bg1"/>
                </a:solidFill>
              </a:rPr>
              <a:t>Cela consiste à utiliser un réseau pré-entraîné VGG16 (il est déjà entraîné sur ImageNet) comme extracteur de caractéristiques.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5CF7C766-0538-EA3A-4DA6-031253C30129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7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7787" y="3093051"/>
            <a:ext cx="2872755" cy="1239998"/>
          </a:xfrm>
          <a:prstGeom prst="rect">
            <a:avLst/>
          </a:prstGeom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F34741AB-3F61-A6A2-087C-B3A91E54926E}"/>
              </a:ext>
            </a:extLst>
          </p:cNvPr>
          <p:cNvSpPr txBox="1"/>
          <p:nvPr/>
        </p:nvSpPr>
        <p:spPr>
          <a:xfrm>
            <a:off x="363503" y="4398718"/>
            <a:ext cx="10770662" cy="869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b="1" dirty="0">
                <a:solidFill>
                  <a:schemeClr val="bg1"/>
                </a:solidFill>
              </a:rPr>
              <a:t>Nous avons gelé les 17 premières couches du modèle VGG16 pour conserver les filtres appris, 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92A932E8-F906-DC40-7E2E-803DA75D9A90}"/>
              </a:ext>
            </a:extLst>
          </p:cNvPr>
          <p:cNvSpPr txBox="1"/>
          <p:nvPr/>
        </p:nvSpPr>
        <p:spPr>
          <a:xfrm>
            <a:off x="363503" y="5541770"/>
            <a:ext cx="113488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b="1" dirty="0">
                <a:solidFill>
                  <a:schemeClr val="bg1"/>
                </a:solidFill>
              </a:rPr>
              <a:t>Nous avons ajouté nos propres couches Dense pour adapter le modèle à notre base de fleurs.</a:t>
            </a:r>
            <a:endParaRPr lang="fr-FR" dirty="0"/>
          </a:p>
        </p:txBody>
      </p:sp>
      <p:sp>
        <p:nvSpPr>
          <p:cNvPr id="17" name="Hexagone 16">
            <a:extLst>
              <a:ext uri="{FF2B5EF4-FFF2-40B4-BE49-F238E27FC236}">
                <a16:creationId xmlns:a16="http://schemas.microsoft.com/office/drawing/2014/main" id="{6FF15490-421C-06C5-278E-90F95DF1318F}"/>
              </a:ext>
            </a:extLst>
          </p:cNvPr>
          <p:cNvSpPr/>
          <p:nvPr/>
        </p:nvSpPr>
        <p:spPr>
          <a:xfrm>
            <a:off x="11225116" y="6118369"/>
            <a:ext cx="836255" cy="638115"/>
          </a:xfrm>
          <a:prstGeom prst="hexagon">
            <a:avLst>
              <a:gd name="adj" fmla="val 35694"/>
              <a:gd name="vf" fmla="val 11547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/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4073947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  <p:bldP spid="14" grpId="0"/>
      <p:bldP spid="1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A9A29D-6D91-CEEC-E7A8-1D474751D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38693749-387F-C9DE-83C4-55F44C8393D0}"/>
              </a:ext>
            </a:extLst>
          </p:cNvPr>
          <p:cNvSpPr txBox="1"/>
          <p:nvPr/>
        </p:nvSpPr>
        <p:spPr>
          <a:xfrm>
            <a:off x="363504" y="480524"/>
            <a:ext cx="837928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306"/>
              </a:spcBef>
              <a:spcAft>
                <a:spcPts val="1742"/>
              </a:spcAft>
            </a:pPr>
            <a:r>
              <a:rPr lang="fr-FR" sz="4400" b="0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ckwell Extra Bold" panose="02060903040505020403" pitchFamily="18" charset="0"/>
              </a:rPr>
              <a:t>Transfer Learning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DADF98CC-EC37-9547-BD16-00702864C4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 r="5202" b="1819"/>
          <a:stretch/>
        </p:blipFill>
        <p:spPr>
          <a:xfrm>
            <a:off x="5878979" y="1414047"/>
            <a:ext cx="5764264" cy="4595139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3EA8A760-98E5-8D98-99A6-25A031250506}"/>
              </a:ext>
            </a:extLst>
          </p:cNvPr>
          <p:cNvSpPr txBox="1"/>
          <p:nvPr/>
        </p:nvSpPr>
        <p:spPr>
          <a:xfrm>
            <a:off x="363504" y="1526942"/>
            <a:ext cx="4791768" cy="1285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b="1" dirty="0">
                <a:solidFill>
                  <a:schemeClr val="bg1"/>
                </a:solidFill>
              </a:rPr>
              <a:t>M</a:t>
            </a:r>
            <a:r>
              <a:rPr lang="fr-FR" b="1" i="0" dirty="0">
                <a:solidFill>
                  <a:schemeClr val="bg1"/>
                </a:solidFill>
                <a:effectLst/>
              </a:rPr>
              <a:t>odèle VGG16 a atteint une précision (accuracy) de 70 % (sur 10 epoch) sur les données de test.</a:t>
            </a:r>
            <a:endParaRPr lang="fr-FR" b="1" dirty="0">
              <a:solidFill>
                <a:schemeClr val="bg1"/>
              </a:solidFill>
            </a:endParaRP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10EE9633-C9E7-01E3-514E-29896791CFE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409" t="50989" r="62773" b="26854"/>
          <a:stretch/>
        </p:blipFill>
        <p:spPr>
          <a:xfrm>
            <a:off x="363504" y="3210231"/>
            <a:ext cx="4545106" cy="1971183"/>
          </a:xfrm>
          <a:prstGeom prst="rect">
            <a:avLst/>
          </a:prstGeom>
        </p:spPr>
      </p:pic>
      <p:cxnSp>
        <p:nvCxnSpPr>
          <p:cNvPr id="13" name="Connecteur : en arc 12">
            <a:extLst>
              <a:ext uri="{FF2B5EF4-FFF2-40B4-BE49-F238E27FC236}">
                <a16:creationId xmlns:a16="http://schemas.microsoft.com/office/drawing/2014/main" id="{B875E834-61C1-1539-6829-9F9AB04E1F7F}"/>
              </a:ext>
            </a:extLst>
          </p:cNvPr>
          <p:cNvCxnSpPr>
            <a:cxnSpLocks/>
            <a:stCxn id="7" idx="2"/>
            <a:endCxn id="11" idx="2"/>
          </p:cNvCxnSpPr>
          <p:nvPr/>
        </p:nvCxnSpPr>
        <p:spPr>
          <a:xfrm rot="5400000">
            <a:off x="1513131" y="3935157"/>
            <a:ext cx="2369184" cy="123331"/>
          </a:xfrm>
          <a:prstGeom prst="curvedConnector5">
            <a:avLst>
              <a:gd name="adj1" fmla="val 22590"/>
              <a:gd name="adj2" fmla="val -1480969"/>
              <a:gd name="adj3" fmla="val 152218"/>
            </a:avLst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4" name="Hexagone 23">
            <a:extLst>
              <a:ext uri="{FF2B5EF4-FFF2-40B4-BE49-F238E27FC236}">
                <a16:creationId xmlns:a16="http://schemas.microsoft.com/office/drawing/2014/main" id="{E14E48E0-C75D-D399-6AF4-BA88417E7BEE}"/>
              </a:ext>
            </a:extLst>
          </p:cNvPr>
          <p:cNvSpPr/>
          <p:nvPr/>
        </p:nvSpPr>
        <p:spPr>
          <a:xfrm>
            <a:off x="11225116" y="6118369"/>
            <a:ext cx="836255" cy="638115"/>
          </a:xfrm>
          <a:prstGeom prst="hexagon">
            <a:avLst>
              <a:gd name="adj" fmla="val 35694"/>
              <a:gd name="vf" fmla="val 11547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/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467521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A862C-E621-478C-5F02-E2B5B454F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4E98C638-CC03-2201-7460-43B5C191D4FC}"/>
              </a:ext>
            </a:extLst>
          </p:cNvPr>
          <p:cNvSpPr txBox="1"/>
          <p:nvPr/>
        </p:nvSpPr>
        <p:spPr>
          <a:xfrm>
            <a:off x="363504" y="480524"/>
            <a:ext cx="837928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306"/>
              </a:spcBef>
              <a:spcAft>
                <a:spcPts val="1742"/>
              </a:spcAft>
            </a:pPr>
            <a:r>
              <a:rPr lang="fr-FR" sz="4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ckwell Extra Bold" panose="02060903040505020403" pitchFamily="18" charset="0"/>
              </a:rPr>
              <a:t>Compilation du modèle</a:t>
            </a:r>
            <a:endParaRPr lang="fr-FR" sz="4400" b="0" i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Rockwell Extra Bold" panose="02060903040505020403" pitchFamily="18" charset="0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B921F1C0-7CE7-A4BE-6CEE-46BAA57BA5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504" y="1619233"/>
            <a:ext cx="6493450" cy="1120975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DFEB3EA7-FA1C-E931-39D1-F847181A7418}"/>
              </a:ext>
            </a:extLst>
          </p:cNvPr>
          <p:cNvSpPr txBox="1"/>
          <p:nvPr/>
        </p:nvSpPr>
        <p:spPr>
          <a:xfrm>
            <a:off x="7383585" y="1564612"/>
            <a:ext cx="45316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b="1" i="0" dirty="0">
                <a:solidFill>
                  <a:schemeClr val="bg1"/>
                </a:solidFill>
                <a:effectLst/>
              </a:rPr>
              <a:t>Même chose que le premier programme : Adam + cross-entropy pour multi-classes.</a:t>
            </a:r>
            <a:endParaRPr lang="fr-FR" b="1" dirty="0">
              <a:solidFill>
                <a:schemeClr val="bg1"/>
              </a:solidFill>
            </a:endParaRPr>
          </a:p>
        </p:txBody>
      </p:sp>
      <p:cxnSp>
        <p:nvCxnSpPr>
          <p:cNvPr id="7" name="Connecteur : en arc 6">
            <a:extLst>
              <a:ext uri="{FF2B5EF4-FFF2-40B4-BE49-F238E27FC236}">
                <a16:creationId xmlns:a16="http://schemas.microsoft.com/office/drawing/2014/main" id="{C3E309F5-DD26-2A89-26E1-458A5F6AE1F2}"/>
              </a:ext>
            </a:extLst>
          </p:cNvPr>
          <p:cNvCxnSpPr>
            <a:cxnSpLocks/>
            <a:stCxn id="5" idx="1"/>
          </p:cNvCxnSpPr>
          <p:nvPr/>
        </p:nvCxnSpPr>
        <p:spPr>
          <a:xfrm rot="10800000" flipV="1">
            <a:off x="6845703" y="2026277"/>
            <a:ext cx="537882" cy="203422"/>
          </a:xfrm>
          <a:prstGeom prst="curvedConnector3">
            <a:avLst>
              <a:gd name="adj1" fmla="val 50000"/>
            </a:avLst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0" name="ZoneTexte 59">
            <a:extLst>
              <a:ext uri="{FF2B5EF4-FFF2-40B4-BE49-F238E27FC236}">
                <a16:creationId xmlns:a16="http://schemas.microsoft.com/office/drawing/2014/main" id="{45F11D4F-735A-27FC-ABEA-8090339F40E7}"/>
              </a:ext>
            </a:extLst>
          </p:cNvPr>
          <p:cNvSpPr txBox="1"/>
          <p:nvPr/>
        </p:nvSpPr>
        <p:spPr>
          <a:xfrm>
            <a:off x="363504" y="3068207"/>
            <a:ext cx="912471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306"/>
              </a:spcBef>
              <a:spcAft>
                <a:spcPts val="1742"/>
              </a:spcAft>
            </a:pPr>
            <a:r>
              <a:rPr lang="fr-FR" sz="4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ckwell Extra Bold" panose="02060903040505020403" pitchFamily="18" charset="0"/>
              </a:rPr>
              <a:t>Entraînement du modèle</a:t>
            </a:r>
            <a:endParaRPr lang="fr-FR" sz="4400" b="0" i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Rockwell Extra Bold" panose="02060903040505020403" pitchFamily="18" charset="0"/>
            </a:endParaRPr>
          </a:p>
        </p:txBody>
      </p:sp>
      <p:pic>
        <p:nvPicPr>
          <p:cNvPr id="62" name="Image 61">
            <a:extLst>
              <a:ext uri="{FF2B5EF4-FFF2-40B4-BE49-F238E27FC236}">
                <a16:creationId xmlns:a16="http://schemas.microsoft.com/office/drawing/2014/main" id="{9882530C-2BA5-BDEA-D372-5B54586FDB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 r="8462"/>
          <a:stretch/>
        </p:blipFill>
        <p:spPr>
          <a:xfrm>
            <a:off x="363504" y="4099409"/>
            <a:ext cx="5405284" cy="1561803"/>
          </a:xfrm>
          <a:prstGeom prst="rect">
            <a:avLst/>
          </a:prstGeom>
        </p:spPr>
      </p:pic>
      <p:sp>
        <p:nvSpPr>
          <p:cNvPr id="74" name="ZoneTexte 73">
            <a:extLst>
              <a:ext uri="{FF2B5EF4-FFF2-40B4-BE49-F238E27FC236}">
                <a16:creationId xmlns:a16="http://schemas.microsoft.com/office/drawing/2014/main" id="{33F6CA4A-CE9E-9E01-5A1D-BE3B07C6750C}"/>
              </a:ext>
            </a:extLst>
          </p:cNvPr>
          <p:cNvSpPr txBox="1"/>
          <p:nvPr/>
        </p:nvSpPr>
        <p:spPr>
          <a:xfrm>
            <a:off x="6556756" y="4336961"/>
            <a:ext cx="5532150" cy="869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fr-FR" b="1" i="0" dirty="0">
                <a:solidFill>
                  <a:schemeClr val="bg1"/>
                </a:solidFill>
                <a:effectLst/>
              </a:rPr>
              <a:t>Le modèle apprend sur train_generator, et se valide à chaque époque sur val_generator.</a:t>
            </a:r>
          </a:p>
        </p:txBody>
      </p:sp>
      <p:cxnSp>
        <p:nvCxnSpPr>
          <p:cNvPr id="75" name="Connecteur : en arc 74">
            <a:extLst>
              <a:ext uri="{FF2B5EF4-FFF2-40B4-BE49-F238E27FC236}">
                <a16:creationId xmlns:a16="http://schemas.microsoft.com/office/drawing/2014/main" id="{56F4A494-64C6-CE01-EB8D-1A2F228FE593}"/>
              </a:ext>
            </a:extLst>
          </p:cNvPr>
          <p:cNvCxnSpPr>
            <a:cxnSpLocks/>
            <a:endCxn id="62" idx="3"/>
          </p:cNvCxnSpPr>
          <p:nvPr/>
        </p:nvCxnSpPr>
        <p:spPr>
          <a:xfrm rot="10800000" flipV="1">
            <a:off x="5768788" y="4650665"/>
            <a:ext cx="787968" cy="229646"/>
          </a:xfrm>
          <a:prstGeom prst="curvedConnector3">
            <a:avLst>
              <a:gd name="adj1" fmla="val 50000"/>
            </a:avLst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" name="Hexagone 7">
            <a:extLst>
              <a:ext uri="{FF2B5EF4-FFF2-40B4-BE49-F238E27FC236}">
                <a16:creationId xmlns:a16="http://schemas.microsoft.com/office/drawing/2014/main" id="{88492418-145C-F0BA-E34B-68E7B5F272FC}"/>
              </a:ext>
            </a:extLst>
          </p:cNvPr>
          <p:cNvSpPr/>
          <p:nvPr/>
        </p:nvSpPr>
        <p:spPr>
          <a:xfrm>
            <a:off x="11225116" y="6118369"/>
            <a:ext cx="836255" cy="638115"/>
          </a:xfrm>
          <a:prstGeom prst="hexagon">
            <a:avLst>
              <a:gd name="adj" fmla="val 35694"/>
              <a:gd name="vf" fmla="val 11547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/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3103384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75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75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6CFB11-2BC5-BE20-FDA0-D4DECA342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9DB40477-238E-36BA-5425-375D51E2A6E2}"/>
              </a:ext>
            </a:extLst>
          </p:cNvPr>
          <p:cNvSpPr txBox="1"/>
          <p:nvPr/>
        </p:nvSpPr>
        <p:spPr>
          <a:xfrm>
            <a:off x="363504" y="480524"/>
            <a:ext cx="837928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306"/>
              </a:spcBef>
              <a:spcAft>
                <a:spcPts val="1742"/>
              </a:spcAft>
            </a:pPr>
            <a:r>
              <a:rPr lang="fr-FR" sz="4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ckwell Extra Bold" panose="02060903040505020403" pitchFamily="18" charset="0"/>
              </a:rPr>
              <a:t>Evaluation du modèle</a:t>
            </a:r>
            <a:endParaRPr lang="fr-FR" sz="4400" b="0" i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Rockwell Extra Bold" panose="02060903040505020403" pitchFamily="18" charset="0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C96FBA73-813D-ABAF-E3FC-4BABBCE565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 r="19159" b="2991"/>
          <a:stretch/>
        </p:blipFill>
        <p:spPr>
          <a:xfrm>
            <a:off x="6905427" y="1691270"/>
            <a:ext cx="4923069" cy="739941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6F4B3B53-9D40-01CA-113C-BAE8ADCAD04B}"/>
              </a:ext>
            </a:extLst>
          </p:cNvPr>
          <p:cNvSpPr txBox="1"/>
          <p:nvPr/>
        </p:nvSpPr>
        <p:spPr>
          <a:xfrm>
            <a:off x="363504" y="1418597"/>
            <a:ext cx="6104964" cy="1285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b="1" dirty="0">
                <a:solidFill>
                  <a:schemeClr val="bg1"/>
                </a:solidFill>
              </a:rPr>
              <a:t>Evaluation du modèle sur le jeu de test (les images de test que le modèle n’a jamais vues avant) en utilisant model.evaluate()</a:t>
            </a:r>
          </a:p>
        </p:txBody>
      </p:sp>
      <p:cxnSp>
        <p:nvCxnSpPr>
          <p:cNvPr id="5" name="Connecteur : en arc 4">
            <a:extLst>
              <a:ext uri="{FF2B5EF4-FFF2-40B4-BE49-F238E27FC236}">
                <a16:creationId xmlns:a16="http://schemas.microsoft.com/office/drawing/2014/main" id="{EE36F35F-2ED9-19B3-7267-240FC49923E7}"/>
              </a:ext>
            </a:extLst>
          </p:cNvPr>
          <p:cNvCxnSpPr>
            <a:cxnSpLocks/>
            <a:stCxn id="4" idx="3"/>
            <a:endCxn id="3" idx="0"/>
          </p:cNvCxnSpPr>
          <p:nvPr/>
        </p:nvCxnSpPr>
        <p:spPr>
          <a:xfrm flipV="1">
            <a:off x="6468468" y="1691270"/>
            <a:ext cx="2898494" cy="369971"/>
          </a:xfrm>
          <a:prstGeom prst="curvedConnector4">
            <a:avLst>
              <a:gd name="adj1" fmla="val 10786"/>
              <a:gd name="adj2" fmla="val 235490"/>
            </a:avLst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" name="ZoneTexte 7">
            <a:extLst>
              <a:ext uri="{FF2B5EF4-FFF2-40B4-BE49-F238E27FC236}">
                <a16:creationId xmlns:a16="http://schemas.microsoft.com/office/drawing/2014/main" id="{00222FC6-B857-608D-1E48-9F7994CB6940}"/>
              </a:ext>
            </a:extLst>
          </p:cNvPr>
          <p:cNvSpPr txBox="1"/>
          <p:nvPr/>
        </p:nvSpPr>
        <p:spPr>
          <a:xfrm>
            <a:off x="283255" y="2892619"/>
            <a:ext cx="837928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306"/>
              </a:spcBef>
              <a:spcAft>
                <a:spcPts val="1742"/>
              </a:spcAft>
            </a:pPr>
            <a:r>
              <a:rPr lang="fr-FR" sz="4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ckwell Extra Bold" panose="02060903040505020403" pitchFamily="18" charset="0"/>
              </a:rPr>
              <a:t>Sauvegarder le modèle</a:t>
            </a:r>
            <a:endParaRPr lang="fr-FR" sz="4400" b="0" i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Rockwell Extra Bold" panose="02060903040505020403" pitchFamily="18" charset="0"/>
            </a:endParaRP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189839F9-3F9B-5C70-8D94-C7B64775D3D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 r="13825"/>
          <a:stretch/>
        </p:blipFill>
        <p:spPr>
          <a:xfrm>
            <a:off x="6096000" y="3728511"/>
            <a:ext cx="5930054" cy="1324832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DE5F1287-85E3-D448-A9C2-FEE6B09FC30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803" t="10239" r="35490" b="7068"/>
          <a:stretch/>
        </p:blipFill>
        <p:spPr>
          <a:xfrm>
            <a:off x="7561679" y="5619391"/>
            <a:ext cx="2998696" cy="769441"/>
          </a:xfrm>
          <a:prstGeom prst="rect">
            <a:avLst/>
          </a:prstGeom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23E8E9F8-01DA-3F6D-B3D3-B69579829222}"/>
              </a:ext>
            </a:extLst>
          </p:cNvPr>
          <p:cNvSpPr txBox="1"/>
          <p:nvPr/>
        </p:nvSpPr>
        <p:spPr>
          <a:xfrm>
            <a:off x="439210" y="4917586"/>
            <a:ext cx="6104964" cy="869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b="1" dirty="0">
                <a:solidFill>
                  <a:schemeClr val="bg1"/>
                </a:solidFill>
              </a:rPr>
              <a:t>Contient l’architecture du modèle (type de couches, activation, dimensions, etc.)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7B71D65C-6D15-C7DA-2321-E7DA181C09C0}"/>
              </a:ext>
            </a:extLst>
          </p:cNvPr>
          <p:cNvSpPr txBox="1"/>
          <p:nvPr/>
        </p:nvSpPr>
        <p:spPr>
          <a:xfrm>
            <a:off x="439211" y="6039950"/>
            <a:ext cx="6104964" cy="454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b="1" dirty="0">
                <a:solidFill>
                  <a:schemeClr val="bg1"/>
                </a:solidFill>
              </a:rPr>
              <a:t>Contient les poids appris après l’entraînement.</a:t>
            </a:r>
          </a:p>
        </p:txBody>
      </p:sp>
      <p:cxnSp>
        <p:nvCxnSpPr>
          <p:cNvPr id="16" name="Connecteur : en arc 15">
            <a:extLst>
              <a:ext uri="{FF2B5EF4-FFF2-40B4-BE49-F238E27FC236}">
                <a16:creationId xmlns:a16="http://schemas.microsoft.com/office/drawing/2014/main" id="{05B1FA6D-C2F7-0BDB-5DB0-657E14888A8F}"/>
              </a:ext>
            </a:extLst>
          </p:cNvPr>
          <p:cNvCxnSpPr>
            <a:cxnSpLocks/>
            <a:stCxn id="14" idx="1"/>
          </p:cNvCxnSpPr>
          <p:nvPr/>
        </p:nvCxnSpPr>
        <p:spPr>
          <a:xfrm rot="10800000" flipH="1" flipV="1">
            <a:off x="439210" y="5352481"/>
            <a:ext cx="7122468" cy="431388"/>
          </a:xfrm>
          <a:prstGeom prst="curvedConnector5">
            <a:avLst>
              <a:gd name="adj1" fmla="val -3210"/>
              <a:gd name="adj2" fmla="val -153805"/>
              <a:gd name="adj3" fmla="val 77187"/>
            </a:avLst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Connecteur : en arc 18">
            <a:extLst>
              <a:ext uri="{FF2B5EF4-FFF2-40B4-BE49-F238E27FC236}">
                <a16:creationId xmlns:a16="http://schemas.microsoft.com/office/drawing/2014/main" id="{AED101CE-D341-AA12-BDBF-B93474DA772F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260304" y="4192867"/>
            <a:ext cx="322042" cy="4280707"/>
          </a:xfrm>
          <a:prstGeom prst="curvedConnector4">
            <a:avLst>
              <a:gd name="adj1" fmla="val -70985"/>
              <a:gd name="adj2" fmla="val 85654"/>
            </a:avLst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6" name="ZoneTexte 25">
            <a:extLst>
              <a:ext uri="{FF2B5EF4-FFF2-40B4-BE49-F238E27FC236}">
                <a16:creationId xmlns:a16="http://schemas.microsoft.com/office/drawing/2014/main" id="{A32765E9-0C64-948C-5582-F26D98B5C1F5}"/>
              </a:ext>
            </a:extLst>
          </p:cNvPr>
          <p:cNvSpPr txBox="1"/>
          <p:nvPr/>
        </p:nvSpPr>
        <p:spPr>
          <a:xfrm>
            <a:off x="439210" y="3795223"/>
            <a:ext cx="5135910" cy="869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b="1" dirty="0">
                <a:solidFill>
                  <a:schemeClr val="bg1"/>
                </a:solidFill>
              </a:rPr>
              <a:t>Sauvegarder le modèle pour le réutiliser plus tard</a:t>
            </a:r>
          </a:p>
        </p:txBody>
      </p:sp>
      <p:sp>
        <p:nvSpPr>
          <p:cNvPr id="40" name="Hexagone 39">
            <a:extLst>
              <a:ext uri="{FF2B5EF4-FFF2-40B4-BE49-F238E27FC236}">
                <a16:creationId xmlns:a16="http://schemas.microsoft.com/office/drawing/2014/main" id="{858E659B-1D21-2AC7-C2E1-D12E620692CC}"/>
              </a:ext>
            </a:extLst>
          </p:cNvPr>
          <p:cNvSpPr/>
          <p:nvPr/>
        </p:nvSpPr>
        <p:spPr>
          <a:xfrm>
            <a:off x="11225116" y="6118369"/>
            <a:ext cx="836255" cy="638115"/>
          </a:xfrm>
          <a:prstGeom prst="hexagon">
            <a:avLst>
              <a:gd name="adj" fmla="val 35694"/>
              <a:gd name="vf" fmla="val 11547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/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943290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14" grpId="0"/>
      <p:bldP spid="15" grpId="0"/>
      <p:bldP spid="2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DA9FF-F523-B7B4-BF84-2688D1CB5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73D13F68-4A4C-A36F-2C3E-601D64D63341}"/>
              </a:ext>
            </a:extLst>
          </p:cNvPr>
          <p:cNvSpPr txBox="1"/>
          <p:nvPr/>
        </p:nvSpPr>
        <p:spPr>
          <a:xfrm>
            <a:off x="309716" y="424014"/>
            <a:ext cx="837928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306"/>
              </a:spcBef>
              <a:spcAft>
                <a:spcPts val="1742"/>
              </a:spcAft>
            </a:pPr>
            <a:r>
              <a:rPr lang="fr-FR" sz="4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ckwell Extra Bold" panose="02060903040505020403" pitchFamily="18" charset="0"/>
              </a:rPr>
              <a:t>Analyse des résultats</a:t>
            </a:r>
            <a:endParaRPr lang="fr-FR" sz="4400" b="0" i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Rockwell Extra Bold" panose="02060903040505020403" pitchFamily="18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8AF569C-5901-0D14-4049-DCB6458FCFFC}"/>
              </a:ext>
            </a:extLst>
          </p:cNvPr>
          <p:cNvSpPr txBox="1"/>
          <p:nvPr/>
        </p:nvSpPr>
        <p:spPr>
          <a:xfrm>
            <a:off x="309716" y="1381943"/>
            <a:ext cx="6667351" cy="1285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b="1" i="0" dirty="0">
                <a:solidFill>
                  <a:schemeClr val="bg1"/>
                </a:solidFill>
                <a:effectLst/>
                <a:latin typeface="+mj-lt"/>
              </a:rPr>
              <a:t>Obtenir les prédictions du modèle sur les données de test.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b="1" i="0" dirty="0">
                <a:solidFill>
                  <a:schemeClr val="bg1"/>
                </a:solidFill>
                <a:effectLst/>
                <a:latin typeface="+mj-lt"/>
              </a:rPr>
              <a:t>Comparer ces prédictions aux étiquettes vraies.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b="1" i="0" dirty="0">
                <a:solidFill>
                  <a:schemeClr val="bg1"/>
                </a:solidFill>
                <a:effectLst/>
                <a:latin typeface="+mj-lt"/>
              </a:rPr>
              <a:t>Afficher :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0F424BA-E7C8-B432-CB8F-1251576D64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3372" y="3175940"/>
            <a:ext cx="2755104" cy="2133438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48D00BDF-EF23-7D84-7907-62D3B065137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140" r="5308"/>
          <a:stretch/>
        </p:blipFill>
        <p:spPr>
          <a:xfrm>
            <a:off x="5538626" y="4574278"/>
            <a:ext cx="5503609" cy="1595282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C52232B6-6048-677A-0CB8-FA15F8707D6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66" r="3495"/>
          <a:stretch/>
        </p:blipFill>
        <p:spPr>
          <a:xfrm>
            <a:off x="6514180" y="2667231"/>
            <a:ext cx="4528055" cy="1770368"/>
          </a:xfrm>
          <a:prstGeom prst="rect">
            <a:avLst/>
          </a:prstGeom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81157355-87D7-ABB8-565B-D8C7D7AB929C}"/>
              </a:ext>
            </a:extLst>
          </p:cNvPr>
          <p:cNvSpPr txBox="1"/>
          <p:nvPr/>
        </p:nvSpPr>
        <p:spPr>
          <a:xfrm>
            <a:off x="1608961" y="2480107"/>
            <a:ext cx="36059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b="1" i="0" dirty="0">
                <a:solidFill>
                  <a:schemeClr val="bg1"/>
                </a:solidFill>
                <a:effectLst/>
              </a:rPr>
              <a:t>Une matrice de confusion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BBDFBDD4-4C8B-08FB-3079-BE9EFA6FF98C}"/>
              </a:ext>
            </a:extLst>
          </p:cNvPr>
          <p:cNvSpPr txBox="1"/>
          <p:nvPr/>
        </p:nvSpPr>
        <p:spPr>
          <a:xfrm>
            <a:off x="6751720" y="2020244"/>
            <a:ext cx="40529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b="1" i="0" dirty="0">
                <a:solidFill>
                  <a:schemeClr val="bg1"/>
                </a:solidFill>
                <a:effectLst/>
              </a:rPr>
              <a:t>Un rapport de classification</a:t>
            </a:r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18" name="Hexagone 17">
            <a:extLst>
              <a:ext uri="{FF2B5EF4-FFF2-40B4-BE49-F238E27FC236}">
                <a16:creationId xmlns:a16="http://schemas.microsoft.com/office/drawing/2014/main" id="{2F623341-F931-744E-E36A-175D1BBF94D5}"/>
              </a:ext>
            </a:extLst>
          </p:cNvPr>
          <p:cNvSpPr/>
          <p:nvPr/>
        </p:nvSpPr>
        <p:spPr>
          <a:xfrm>
            <a:off x="11225116" y="6118369"/>
            <a:ext cx="836255" cy="638115"/>
          </a:xfrm>
          <a:prstGeom prst="hexagon">
            <a:avLst>
              <a:gd name="adj" fmla="val 35694"/>
              <a:gd name="vf" fmla="val 11547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/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512662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4" grpId="0"/>
      <p:bldP spid="1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D9839-30F0-9AB3-523A-F48032CD9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F9422BD4-7668-B2F2-0833-1D2011C18EFC}"/>
              </a:ext>
            </a:extLst>
          </p:cNvPr>
          <p:cNvSpPr txBox="1"/>
          <p:nvPr/>
        </p:nvSpPr>
        <p:spPr>
          <a:xfrm>
            <a:off x="309716" y="424014"/>
            <a:ext cx="837928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306"/>
              </a:spcBef>
              <a:spcAft>
                <a:spcPts val="1742"/>
              </a:spcAft>
            </a:pPr>
            <a:r>
              <a:rPr lang="fr-FR" sz="4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ckwell Extra Bold" panose="02060903040505020403" pitchFamily="18" charset="0"/>
              </a:rPr>
              <a:t>Analyse des résultats</a:t>
            </a:r>
            <a:endParaRPr lang="fr-FR" sz="4400" b="0" i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Rockwell Extra Bold" panose="02060903040505020403" pitchFamily="18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8E4D7627-B402-1E49-AC8C-DE7C2A4B3A5B}"/>
              </a:ext>
            </a:extLst>
          </p:cNvPr>
          <p:cNvSpPr txBox="1"/>
          <p:nvPr/>
        </p:nvSpPr>
        <p:spPr>
          <a:xfrm>
            <a:off x="309716" y="1381943"/>
            <a:ext cx="11389659" cy="1285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b="1" i="0" dirty="0">
                <a:solidFill>
                  <a:schemeClr val="bg1"/>
                </a:solidFill>
                <a:effectLst/>
                <a:latin typeface="+mj-lt"/>
              </a:rPr>
              <a:t>Obtenir les prédictions du modèle sur les données de test.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b="1" i="0" dirty="0">
                <a:solidFill>
                  <a:schemeClr val="bg1"/>
                </a:solidFill>
                <a:effectLst/>
                <a:latin typeface="+mj-lt"/>
              </a:rPr>
              <a:t>Comparer ces prédictions aux étiquettes vraies.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b="1" i="0" dirty="0">
                <a:solidFill>
                  <a:schemeClr val="bg1"/>
                </a:solidFill>
                <a:effectLst/>
                <a:latin typeface="+mj-lt"/>
              </a:rPr>
              <a:t>Afficher :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C3CF06D-4037-09D8-6397-4B1CB444E6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059706" y="1233524"/>
            <a:ext cx="4822578" cy="4708590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94CA30B0-0A8E-4CE9-DF98-BD7390DECCEE}"/>
              </a:ext>
            </a:extLst>
          </p:cNvPr>
          <p:cNvSpPr txBox="1"/>
          <p:nvPr/>
        </p:nvSpPr>
        <p:spPr>
          <a:xfrm>
            <a:off x="659339" y="2855719"/>
            <a:ext cx="61049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b="1" i="0" dirty="0">
                <a:solidFill>
                  <a:schemeClr val="bg1"/>
                </a:solidFill>
                <a:effectLst/>
                <a:latin typeface="+mj-lt"/>
              </a:rPr>
              <a:t>Une visualisation (heatmap) claire des erreurs.</a:t>
            </a:r>
            <a:endParaRPr lang="fr-FR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217181A5-9FDB-84F9-BAEA-4AB0C0DAC788}"/>
              </a:ext>
            </a:extLst>
          </p:cNvPr>
          <p:cNvSpPr txBox="1"/>
          <p:nvPr/>
        </p:nvSpPr>
        <p:spPr>
          <a:xfrm>
            <a:off x="659339" y="3226950"/>
            <a:ext cx="6104964" cy="1112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fr-FR" b="1" dirty="0">
                <a:solidFill>
                  <a:schemeClr val="bg1"/>
                </a:solidFill>
              </a:rPr>
              <a:t>La diagonale montre les bonnes prédictions. 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fr-FR" b="1" dirty="0">
                <a:solidFill>
                  <a:schemeClr val="bg1"/>
                </a:solidFill>
              </a:rPr>
              <a:t>Hors diagonale = erreurs de classification.</a:t>
            </a:r>
          </a:p>
        </p:txBody>
      </p:sp>
      <p:sp>
        <p:nvSpPr>
          <p:cNvPr id="13" name="Hexagone 12">
            <a:extLst>
              <a:ext uri="{FF2B5EF4-FFF2-40B4-BE49-F238E27FC236}">
                <a16:creationId xmlns:a16="http://schemas.microsoft.com/office/drawing/2014/main" id="{ED1DE86B-17F1-52D9-B76C-891F5041542D}"/>
              </a:ext>
            </a:extLst>
          </p:cNvPr>
          <p:cNvSpPr/>
          <p:nvPr/>
        </p:nvSpPr>
        <p:spPr>
          <a:xfrm>
            <a:off x="11225116" y="6118369"/>
            <a:ext cx="836255" cy="638115"/>
          </a:xfrm>
          <a:prstGeom prst="hexagon">
            <a:avLst>
              <a:gd name="adj" fmla="val 35694"/>
              <a:gd name="vf" fmla="val 11547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/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810221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06A0F75B-A724-29D5-1C58-3AE20CA260BA}"/>
              </a:ext>
            </a:extLst>
          </p:cNvPr>
          <p:cNvSpPr txBox="1"/>
          <p:nvPr/>
        </p:nvSpPr>
        <p:spPr>
          <a:xfrm>
            <a:off x="269374" y="450908"/>
            <a:ext cx="1121441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306"/>
              </a:spcBef>
              <a:spcAft>
                <a:spcPts val="1742"/>
              </a:spcAft>
            </a:pPr>
            <a:r>
              <a:rPr lang="fr-FR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ckwell Extra Bold" panose="02060903040505020403" pitchFamily="18" charset="0"/>
              </a:rPr>
              <a:t>Visualisation des filtres et activations dans VGG16</a:t>
            </a:r>
            <a:endParaRPr lang="fr-FR" sz="2800" b="0" i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Rockwell Extra Bold" panose="02060903040505020403" pitchFamily="18" charset="0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71EB9F8D-6C1E-1FDC-EB10-4545F05BB25C}"/>
              </a:ext>
            </a:extLst>
          </p:cNvPr>
          <p:cNvSpPr txBox="1"/>
          <p:nvPr/>
        </p:nvSpPr>
        <p:spPr>
          <a:xfrm>
            <a:off x="269374" y="1248228"/>
            <a:ext cx="606006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b="1" dirty="0">
                <a:solidFill>
                  <a:schemeClr val="bg1"/>
                </a:solidFill>
              </a:rPr>
              <a:t>Prendre le deuxième filtre de </a:t>
            </a:r>
            <a:r>
              <a:rPr lang="fr-FR" b="1" i="0" dirty="0">
                <a:solidFill>
                  <a:schemeClr val="bg1"/>
                </a:solidFill>
                <a:effectLst/>
                <a:latin typeface="+mj-lt"/>
              </a:rPr>
              <a:t>la première couche convolutionnelle</a:t>
            </a:r>
            <a:r>
              <a:rPr lang="fr-FR" b="1" dirty="0">
                <a:solidFill>
                  <a:schemeClr val="bg1"/>
                </a:solidFill>
              </a:rPr>
              <a:t>(qui contient 3 sous-filtres pour les 3 canaux R, V et B) et visualiser ces 3 sous-filtres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55B754E4-9933-3B5D-C6F7-0ED8C4B392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465" y="2355551"/>
            <a:ext cx="5181347" cy="1770358"/>
          </a:xfrm>
          <a:prstGeom prst="rect">
            <a:avLst/>
          </a:prstGeom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7B6825D6-9F5A-F147-D9F8-86ECB3981608}"/>
              </a:ext>
            </a:extLst>
          </p:cNvPr>
          <p:cNvSpPr txBox="1"/>
          <p:nvPr/>
        </p:nvSpPr>
        <p:spPr>
          <a:xfrm>
            <a:off x="269374" y="4363277"/>
            <a:ext cx="642726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b="1" dirty="0">
                <a:solidFill>
                  <a:schemeClr val="bg1"/>
                </a:solidFill>
              </a:rPr>
              <a:t>Visualiser les feature maps produites par la deuxième couche</a:t>
            </a: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8CE09905-D2C2-71DB-E14D-A1F332F3608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3025" y="1493078"/>
            <a:ext cx="4133961" cy="3871844"/>
          </a:xfrm>
          <a:prstGeom prst="rect">
            <a:avLst/>
          </a:prstGeom>
        </p:spPr>
      </p:pic>
      <p:sp>
        <p:nvSpPr>
          <p:cNvPr id="19" name="ZoneTexte 18">
            <a:extLst>
              <a:ext uri="{FF2B5EF4-FFF2-40B4-BE49-F238E27FC236}">
                <a16:creationId xmlns:a16="http://schemas.microsoft.com/office/drawing/2014/main" id="{F3D4FC1B-801F-032B-5AF7-4EE9C014D42C}"/>
              </a:ext>
            </a:extLst>
          </p:cNvPr>
          <p:cNvSpPr txBox="1"/>
          <p:nvPr/>
        </p:nvSpPr>
        <p:spPr>
          <a:xfrm>
            <a:off x="269373" y="5146377"/>
            <a:ext cx="25948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b="1" dirty="0">
                <a:solidFill>
                  <a:schemeClr val="bg1"/>
                </a:solidFill>
              </a:rPr>
              <a:t>Prédiction finale</a:t>
            </a:r>
          </a:p>
        </p:txBody>
      </p:sp>
      <p:pic>
        <p:nvPicPr>
          <p:cNvPr id="21" name="Image 20">
            <a:extLst>
              <a:ext uri="{FF2B5EF4-FFF2-40B4-BE49-F238E27FC236}">
                <a16:creationId xmlns:a16="http://schemas.microsoft.com/office/drawing/2014/main" id="{B4BAF860-E2DC-484F-42A6-15C8BC86D93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8824"/>
          <a:stretch/>
        </p:blipFill>
        <p:spPr>
          <a:xfrm>
            <a:off x="219297" y="5609772"/>
            <a:ext cx="4029974" cy="1125597"/>
          </a:xfrm>
          <a:prstGeom prst="rect">
            <a:avLst/>
          </a:prstGeom>
        </p:spPr>
      </p:pic>
      <p:pic>
        <p:nvPicPr>
          <p:cNvPr id="23" name="Image 22">
            <a:extLst>
              <a:ext uri="{FF2B5EF4-FFF2-40B4-BE49-F238E27FC236}">
                <a16:creationId xmlns:a16="http://schemas.microsoft.com/office/drawing/2014/main" id="{9D991DE7-1E0E-0E06-0693-478292C23E0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78"/>
          <a:stretch/>
        </p:blipFill>
        <p:spPr>
          <a:xfrm>
            <a:off x="4384530" y="5602290"/>
            <a:ext cx="4238286" cy="646331"/>
          </a:xfrm>
          <a:prstGeom prst="rect">
            <a:avLst/>
          </a:prstGeom>
        </p:spPr>
      </p:pic>
      <p:sp>
        <p:nvSpPr>
          <p:cNvPr id="24" name="ZoneTexte 23">
            <a:extLst>
              <a:ext uri="{FF2B5EF4-FFF2-40B4-BE49-F238E27FC236}">
                <a16:creationId xmlns:a16="http://schemas.microsoft.com/office/drawing/2014/main" id="{E3829443-9054-7150-3D06-9A6B6969E0F7}"/>
              </a:ext>
            </a:extLst>
          </p:cNvPr>
          <p:cNvSpPr txBox="1"/>
          <p:nvPr/>
        </p:nvSpPr>
        <p:spPr>
          <a:xfrm>
            <a:off x="7492010" y="6317628"/>
            <a:ext cx="2761053" cy="461665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fr-FR" sz="2400" b="1" dirty="0">
                <a:solidFill>
                  <a:schemeClr val="bg1"/>
                </a:solidFill>
              </a:rPr>
              <a:t>C-à-d la classe 1</a:t>
            </a:r>
          </a:p>
        </p:txBody>
      </p:sp>
      <p:cxnSp>
        <p:nvCxnSpPr>
          <p:cNvPr id="25" name="Connecteur : en arc 24">
            <a:extLst>
              <a:ext uri="{FF2B5EF4-FFF2-40B4-BE49-F238E27FC236}">
                <a16:creationId xmlns:a16="http://schemas.microsoft.com/office/drawing/2014/main" id="{C0AAD08F-CF07-544F-758B-0DD8D05A87DB}"/>
              </a:ext>
            </a:extLst>
          </p:cNvPr>
          <p:cNvCxnSpPr>
            <a:cxnSpLocks/>
            <a:stCxn id="24" idx="1"/>
          </p:cNvCxnSpPr>
          <p:nvPr/>
        </p:nvCxnSpPr>
        <p:spPr>
          <a:xfrm rot="10800000">
            <a:off x="5889812" y="6109329"/>
            <a:ext cx="1602198" cy="439132"/>
          </a:xfrm>
          <a:prstGeom prst="curvedConnector3">
            <a:avLst>
              <a:gd name="adj1" fmla="val 50000"/>
            </a:avLst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6" name="Hexagone 35">
            <a:extLst>
              <a:ext uri="{FF2B5EF4-FFF2-40B4-BE49-F238E27FC236}">
                <a16:creationId xmlns:a16="http://schemas.microsoft.com/office/drawing/2014/main" id="{A8AFCA93-3B44-20CE-38BD-96523BD306D0}"/>
              </a:ext>
            </a:extLst>
          </p:cNvPr>
          <p:cNvSpPr/>
          <p:nvPr/>
        </p:nvSpPr>
        <p:spPr>
          <a:xfrm>
            <a:off x="11225116" y="6118369"/>
            <a:ext cx="836255" cy="638115"/>
          </a:xfrm>
          <a:prstGeom prst="hexagon">
            <a:avLst>
              <a:gd name="adj" fmla="val 35694"/>
              <a:gd name="vf" fmla="val 11547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/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737333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1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4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4" grpId="0"/>
      <p:bldP spid="19" grpId="0"/>
      <p:bldP spid="2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D4325-7FEF-DC25-26C5-F44741089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1599D107-4CAF-11E0-0220-26BE97AFCA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81" t="30072" r="3567" b="1558"/>
          <a:stretch/>
        </p:blipFill>
        <p:spPr>
          <a:xfrm>
            <a:off x="269374" y="1856217"/>
            <a:ext cx="8324353" cy="1739312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A17FF3AC-8D5E-E7A3-99B8-F4DCEE2860E0}"/>
              </a:ext>
            </a:extLst>
          </p:cNvPr>
          <p:cNvSpPr txBox="1"/>
          <p:nvPr/>
        </p:nvSpPr>
        <p:spPr>
          <a:xfrm>
            <a:off x="269374" y="450908"/>
            <a:ext cx="1121441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306"/>
              </a:spcBef>
              <a:spcAft>
                <a:spcPts val="1742"/>
              </a:spcAft>
            </a:pPr>
            <a:r>
              <a:rPr lang="fr-FR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ckwell Extra Bold" panose="02060903040505020403" pitchFamily="18" charset="0"/>
              </a:rPr>
              <a:t>Visualisation des filtres et activations dans VGG16</a:t>
            </a:r>
            <a:endParaRPr lang="fr-FR" sz="2800" b="0" i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Rockwell Extra Bold" panose="02060903040505020403" pitchFamily="18" charset="0"/>
            </a:endParaRP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C5ABA3F2-04E1-A4BC-F4F2-551CD9D0E61E}"/>
              </a:ext>
            </a:extLst>
          </p:cNvPr>
          <p:cNvSpPr txBox="1"/>
          <p:nvPr/>
        </p:nvSpPr>
        <p:spPr>
          <a:xfrm>
            <a:off x="319450" y="1311356"/>
            <a:ext cx="25948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b="1" dirty="0">
                <a:solidFill>
                  <a:schemeClr val="bg1"/>
                </a:solidFill>
              </a:rPr>
              <a:t>Prédiction finale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C038C13B-396F-D106-C3C8-D6A339079A4A}"/>
              </a:ext>
            </a:extLst>
          </p:cNvPr>
          <p:cNvSpPr txBox="1"/>
          <p:nvPr/>
        </p:nvSpPr>
        <p:spPr>
          <a:xfrm>
            <a:off x="9161573" y="2751733"/>
            <a:ext cx="2761053" cy="461665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fr-FR" sz="2400" b="1" dirty="0">
                <a:solidFill>
                  <a:schemeClr val="bg1"/>
                </a:solidFill>
              </a:rPr>
              <a:t>C-à-d la classe 2</a:t>
            </a:r>
          </a:p>
        </p:txBody>
      </p:sp>
      <p:cxnSp>
        <p:nvCxnSpPr>
          <p:cNvPr id="25" name="Connecteur : en arc 24">
            <a:extLst>
              <a:ext uri="{FF2B5EF4-FFF2-40B4-BE49-F238E27FC236}">
                <a16:creationId xmlns:a16="http://schemas.microsoft.com/office/drawing/2014/main" id="{ABCFC8AB-1230-5B5A-32E9-D50029766A79}"/>
              </a:ext>
            </a:extLst>
          </p:cNvPr>
          <p:cNvCxnSpPr>
            <a:cxnSpLocks/>
            <a:stCxn id="24" idx="1"/>
          </p:cNvCxnSpPr>
          <p:nvPr/>
        </p:nvCxnSpPr>
        <p:spPr>
          <a:xfrm rot="10800000" flipV="1">
            <a:off x="5827595" y="2982565"/>
            <a:ext cx="3333979" cy="406361"/>
          </a:xfrm>
          <a:prstGeom prst="curvedConnector3">
            <a:avLst>
              <a:gd name="adj1" fmla="val 50000"/>
            </a:avLst>
          </a:prstGeom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6" name="Hexagone 35">
            <a:extLst>
              <a:ext uri="{FF2B5EF4-FFF2-40B4-BE49-F238E27FC236}">
                <a16:creationId xmlns:a16="http://schemas.microsoft.com/office/drawing/2014/main" id="{EDE4E604-B190-866D-26D7-944A783742DC}"/>
              </a:ext>
            </a:extLst>
          </p:cNvPr>
          <p:cNvSpPr/>
          <p:nvPr/>
        </p:nvSpPr>
        <p:spPr>
          <a:xfrm>
            <a:off x="11225116" y="6118369"/>
            <a:ext cx="836255" cy="638115"/>
          </a:xfrm>
          <a:prstGeom prst="hexagon">
            <a:avLst>
              <a:gd name="adj" fmla="val 35694"/>
              <a:gd name="vf" fmla="val 11547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/>
              <a:t>19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DB2A5AC2-034B-C14B-FE8C-6042869A72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197" r="3870"/>
          <a:stretch/>
        </p:blipFill>
        <p:spPr>
          <a:xfrm>
            <a:off x="300552" y="3887963"/>
            <a:ext cx="8261996" cy="2052241"/>
          </a:xfrm>
          <a:prstGeom prst="rect">
            <a:avLst/>
          </a:prstGeom>
        </p:spPr>
      </p:pic>
      <p:sp>
        <p:nvSpPr>
          <p:cNvPr id="7" name="Ellipse 6">
            <a:extLst>
              <a:ext uri="{FF2B5EF4-FFF2-40B4-BE49-F238E27FC236}">
                <a16:creationId xmlns:a16="http://schemas.microsoft.com/office/drawing/2014/main" id="{D957357C-B7F0-A568-6985-35D41E03ECCB}"/>
              </a:ext>
            </a:extLst>
          </p:cNvPr>
          <p:cNvSpPr/>
          <p:nvPr/>
        </p:nvSpPr>
        <p:spPr>
          <a:xfrm>
            <a:off x="4367285" y="2989326"/>
            <a:ext cx="1460310" cy="750627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E4E7B237-4EC2-44B3-39A7-5887F3A3D90D}"/>
              </a:ext>
            </a:extLst>
          </p:cNvPr>
          <p:cNvSpPr/>
          <p:nvPr/>
        </p:nvSpPr>
        <p:spPr>
          <a:xfrm>
            <a:off x="1501253" y="2655034"/>
            <a:ext cx="1189631" cy="750627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D84E7C7E-5951-6916-4F28-9042DAB18104}"/>
              </a:ext>
            </a:extLst>
          </p:cNvPr>
          <p:cNvCxnSpPr>
            <a:cxnSpLocks/>
            <a:stCxn id="8" idx="6"/>
            <a:endCxn id="7" idx="2"/>
          </p:cNvCxnSpPr>
          <p:nvPr/>
        </p:nvCxnSpPr>
        <p:spPr>
          <a:xfrm>
            <a:off x="2690884" y="3030348"/>
            <a:ext cx="1676401" cy="334292"/>
          </a:xfrm>
          <a:prstGeom prst="straightConnector1">
            <a:avLst/>
          </a:prstGeom>
          <a:ln w="38100" cap="flat" cmpd="sng" algn="ctr">
            <a:solidFill>
              <a:srgbClr val="FF0000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Ellipse 12">
            <a:extLst>
              <a:ext uri="{FF2B5EF4-FFF2-40B4-BE49-F238E27FC236}">
                <a16:creationId xmlns:a16="http://schemas.microsoft.com/office/drawing/2014/main" id="{51DF1B91-BEE4-5C89-AFBD-2E85051C0126}"/>
              </a:ext>
            </a:extLst>
          </p:cNvPr>
          <p:cNvSpPr/>
          <p:nvPr/>
        </p:nvSpPr>
        <p:spPr>
          <a:xfrm>
            <a:off x="4506037" y="4851204"/>
            <a:ext cx="1460310" cy="750627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73F8DB45-C636-A46E-241C-C90C53B8F3DD}"/>
              </a:ext>
            </a:extLst>
          </p:cNvPr>
          <p:cNvSpPr/>
          <p:nvPr/>
        </p:nvSpPr>
        <p:spPr>
          <a:xfrm>
            <a:off x="1610435" y="4516912"/>
            <a:ext cx="1219201" cy="750627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7" name="Connecteur droit avec flèche 16">
            <a:extLst>
              <a:ext uri="{FF2B5EF4-FFF2-40B4-BE49-F238E27FC236}">
                <a16:creationId xmlns:a16="http://schemas.microsoft.com/office/drawing/2014/main" id="{785F03B1-8DB6-DC33-DF63-7954DFBF5CD5}"/>
              </a:ext>
            </a:extLst>
          </p:cNvPr>
          <p:cNvCxnSpPr>
            <a:cxnSpLocks/>
            <a:stCxn id="15" idx="6"/>
            <a:endCxn id="13" idx="2"/>
          </p:cNvCxnSpPr>
          <p:nvPr/>
        </p:nvCxnSpPr>
        <p:spPr>
          <a:xfrm>
            <a:off x="2829636" y="4892226"/>
            <a:ext cx="1676401" cy="334292"/>
          </a:xfrm>
          <a:prstGeom prst="straightConnector1">
            <a:avLst/>
          </a:prstGeom>
          <a:ln w="38100" cap="flat" cmpd="sng" algn="ctr">
            <a:solidFill>
              <a:srgbClr val="FF0000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2" name="ZoneTexte 21">
            <a:extLst>
              <a:ext uri="{FF2B5EF4-FFF2-40B4-BE49-F238E27FC236}">
                <a16:creationId xmlns:a16="http://schemas.microsoft.com/office/drawing/2014/main" id="{234C12FA-DFA6-7F6C-97B6-1321C9B2AE5B}"/>
              </a:ext>
            </a:extLst>
          </p:cNvPr>
          <p:cNvSpPr txBox="1"/>
          <p:nvPr/>
        </p:nvSpPr>
        <p:spPr>
          <a:xfrm>
            <a:off x="9161573" y="4760171"/>
            <a:ext cx="2761053" cy="461665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fr-FR" sz="2400" b="1" dirty="0">
                <a:solidFill>
                  <a:schemeClr val="bg1"/>
                </a:solidFill>
              </a:rPr>
              <a:t>C-à-d la classe 5</a:t>
            </a:r>
          </a:p>
        </p:txBody>
      </p:sp>
      <p:cxnSp>
        <p:nvCxnSpPr>
          <p:cNvPr id="26" name="Connecteur : en arc 25">
            <a:extLst>
              <a:ext uri="{FF2B5EF4-FFF2-40B4-BE49-F238E27FC236}">
                <a16:creationId xmlns:a16="http://schemas.microsoft.com/office/drawing/2014/main" id="{2463BCF1-BEDF-4C5A-D6E5-A9B46A741E9C}"/>
              </a:ext>
            </a:extLst>
          </p:cNvPr>
          <p:cNvCxnSpPr>
            <a:cxnSpLocks/>
            <a:stCxn id="22" idx="1"/>
          </p:cNvCxnSpPr>
          <p:nvPr/>
        </p:nvCxnSpPr>
        <p:spPr>
          <a:xfrm rot="10800000" flipV="1">
            <a:off x="5966347" y="4991003"/>
            <a:ext cx="3195226" cy="230829"/>
          </a:xfrm>
          <a:prstGeom prst="curvedConnector3">
            <a:avLst>
              <a:gd name="adj1" fmla="val 9850"/>
            </a:avLst>
          </a:prstGeom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1016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9" dur="1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2" dur="1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5" dur="1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8" dur="1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7" grpId="0" animBg="1"/>
      <p:bldP spid="8" grpId="0" animBg="1"/>
      <p:bldP spid="13" grpId="0" animBg="1"/>
      <p:bldP spid="15" grpId="0" animBg="1"/>
      <p:bldP spid="2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AA775758-7FDC-40CC-0C47-2B73E008467F}"/>
              </a:ext>
            </a:extLst>
          </p:cNvPr>
          <p:cNvSpPr txBox="1"/>
          <p:nvPr/>
        </p:nvSpPr>
        <p:spPr>
          <a:xfrm>
            <a:off x="309716" y="424014"/>
            <a:ext cx="777196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306"/>
              </a:spcBef>
              <a:spcAft>
                <a:spcPts val="1742"/>
              </a:spcAft>
            </a:pPr>
            <a:r>
              <a:rPr lang="fr-FR" sz="4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ckwell Extra Bold" panose="02060903040505020403" pitchFamily="18" charset="0"/>
              </a:rPr>
              <a:t>La création d’une API</a:t>
            </a:r>
            <a:endParaRPr lang="fr-FR" sz="4400" b="0" i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Rockwell Extra Bold" panose="02060903040505020403" pitchFamily="18" charset="0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C63AD6E6-39D7-B182-CDEA-83AE068026EB}"/>
              </a:ext>
            </a:extLst>
          </p:cNvPr>
          <p:cNvSpPr txBox="1"/>
          <p:nvPr/>
        </p:nvSpPr>
        <p:spPr>
          <a:xfrm>
            <a:off x="154858" y="1402087"/>
            <a:ext cx="118822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b="1" i="0" dirty="0">
                <a:solidFill>
                  <a:schemeClr val="bg1"/>
                </a:solidFill>
                <a:effectLst/>
                <a:latin typeface="+mj-lt"/>
              </a:rPr>
              <a:t>Dans cette dernière étape du projet, nous avons développé une interface utilisateur avec Streamlit</a:t>
            </a:r>
            <a:endParaRPr lang="fr-FR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4069C2AA-D7E8-809C-9724-A9A51188091D}"/>
              </a:ext>
            </a:extLst>
          </p:cNvPr>
          <p:cNvSpPr txBox="1"/>
          <p:nvPr/>
        </p:nvSpPr>
        <p:spPr>
          <a:xfrm>
            <a:off x="154858" y="2046211"/>
            <a:ext cx="1159787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b="1" dirty="0">
                <a:solidFill>
                  <a:schemeClr val="bg1"/>
                </a:solidFill>
                <a:latin typeface="+mj-lt"/>
              </a:rPr>
              <a:t>P</a:t>
            </a:r>
            <a:r>
              <a:rPr lang="fr-FR" b="1" i="0" dirty="0">
                <a:solidFill>
                  <a:schemeClr val="bg1"/>
                </a:solidFill>
                <a:effectLst/>
                <a:latin typeface="+mj-lt"/>
              </a:rPr>
              <a:t>ermettant de téléverser une image de fleur et d’obtenir automatiquement sa classe prédite (C’est une liste de 102 noms de fleurs. Chaque index (0, 1, 2, ...) correspond à une classe prédite par le modèle.).</a:t>
            </a:r>
            <a:endParaRPr lang="fr-FR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6F600A69-1F51-DD47-CD51-E92151B9F4E8}"/>
              </a:ext>
            </a:extLst>
          </p:cNvPr>
          <p:cNvSpPr txBox="1"/>
          <p:nvPr/>
        </p:nvSpPr>
        <p:spPr>
          <a:xfrm>
            <a:off x="154858" y="3059668"/>
            <a:ext cx="92849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b="1" i="0" dirty="0">
                <a:solidFill>
                  <a:schemeClr val="bg1"/>
                </a:solidFill>
                <a:effectLst/>
                <a:latin typeface="+mj-lt"/>
              </a:rPr>
              <a:t>Le nom de la fleur prédite est ensuite affiché dynamiquement dans l’interface.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DC542099-AD4E-3027-AE0C-8A0C08ACE63D}"/>
              </a:ext>
            </a:extLst>
          </p:cNvPr>
          <p:cNvSpPr txBox="1"/>
          <p:nvPr/>
        </p:nvSpPr>
        <p:spPr>
          <a:xfrm>
            <a:off x="235539" y="3772587"/>
            <a:ext cx="1151719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306"/>
              </a:spcBef>
              <a:spcAft>
                <a:spcPts val="1742"/>
              </a:spcAft>
            </a:pPr>
            <a:r>
              <a:rPr lang="fr-FR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ckwell Extra Bold" panose="02060903040505020403" pitchFamily="18" charset="0"/>
              </a:rPr>
              <a:t>Interface utilisateur pour la classification d’images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DEF3EA95-A8E5-95E0-3FA5-5A40A032D532}"/>
              </a:ext>
            </a:extLst>
          </p:cNvPr>
          <p:cNvSpPr txBox="1"/>
          <p:nvPr/>
        </p:nvSpPr>
        <p:spPr>
          <a:xfrm>
            <a:off x="154858" y="4454728"/>
            <a:ext cx="10293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b="1" dirty="0">
                <a:solidFill>
                  <a:schemeClr val="bg1"/>
                </a:solidFill>
              </a:rPr>
              <a:t>Pour lancer l’application web (API </a:t>
            </a:r>
            <a:r>
              <a:rPr lang="fr-FR" b="1" dirty="0">
                <a:solidFill>
                  <a:schemeClr val="bg1"/>
                </a:solidFill>
                <a:sym typeface="Wingdings" panose="05000000000000000000" pitchFamily="2" charset="2"/>
              </a:rPr>
              <a:t> </a:t>
            </a:r>
            <a:r>
              <a:rPr lang="fr-FR" b="1" dirty="0">
                <a:solidFill>
                  <a:schemeClr val="bg1"/>
                </a:solidFill>
              </a:rPr>
              <a:t>Anaconda Prompt </a:t>
            </a:r>
            <a:r>
              <a:rPr lang="fr-FR" b="1" dirty="0">
                <a:solidFill>
                  <a:schemeClr val="bg1"/>
                </a:solidFill>
                <a:sym typeface="Wingdings" panose="05000000000000000000" pitchFamily="2" charset="2"/>
              </a:rPr>
              <a:t> </a:t>
            </a:r>
            <a:r>
              <a:rPr lang="fr-FR" b="1" dirty="0">
                <a:solidFill>
                  <a:schemeClr val="bg1"/>
                </a:solidFill>
              </a:rPr>
              <a:t>streamlit run BE_partie_6.py</a:t>
            </a:r>
            <a:r>
              <a:rPr lang="fr-FR" b="1" dirty="0">
                <a:solidFill>
                  <a:schemeClr val="bg1"/>
                </a:solidFill>
                <a:sym typeface="Wingdings" panose="05000000000000000000" pitchFamily="2" charset="2"/>
              </a:rPr>
              <a:t> </a:t>
            </a:r>
            <a:r>
              <a:rPr lang="fr-FR" b="1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65D5C854-7899-DCF8-F0D2-120D592CBAF2}"/>
              </a:ext>
            </a:extLst>
          </p:cNvPr>
          <p:cNvSpPr txBox="1"/>
          <p:nvPr/>
        </p:nvSpPr>
        <p:spPr>
          <a:xfrm>
            <a:off x="154857" y="4990550"/>
            <a:ext cx="11772683" cy="869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b="1" dirty="0">
                <a:solidFill>
                  <a:schemeClr val="bg1"/>
                </a:solidFill>
              </a:rPr>
              <a:t>Une fois l’application ouverte dans le navigateur, il est possible de téléverser n’importe quelle image de fleur, et le modèle pré-entraîné affichera automatiquement :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0C67665E-0ED0-B874-D9FA-737CD776ACE0}"/>
              </a:ext>
            </a:extLst>
          </p:cNvPr>
          <p:cNvSpPr txBox="1"/>
          <p:nvPr/>
        </p:nvSpPr>
        <p:spPr>
          <a:xfrm>
            <a:off x="3469342" y="6004006"/>
            <a:ext cx="61049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fr-FR" b="1" dirty="0">
                <a:solidFill>
                  <a:schemeClr val="bg1"/>
                </a:solidFill>
              </a:rPr>
              <a:t>la classe prédite (nom de la fleur),</a:t>
            </a:r>
          </a:p>
        </p:txBody>
      </p:sp>
      <p:sp>
        <p:nvSpPr>
          <p:cNvPr id="17" name="Hexagone 16">
            <a:extLst>
              <a:ext uri="{FF2B5EF4-FFF2-40B4-BE49-F238E27FC236}">
                <a16:creationId xmlns:a16="http://schemas.microsoft.com/office/drawing/2014/main" id="{3A587524-225A-FEBA-F5FE-07A05EAAF2F1}"/>
              </a:ext>
            </a:extLst>
          </p:cNvPr>
          <p:cNvSpPr/>
          <p:nvPr/>
        </p:nvSpPr>
        <p:spPr>
          <a:xfrm>
            <a:off x="11225116" y="6118369"/>
            <a:ext cx="836255" cy="638115"/>
          </a:xfrm>
          <a:prstGeom prst="hexagon">
            <a:avLst>
              <a:gd name="adj" fmla="val 35694"/>
              <a:gd name="vf" fmla="val 11547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/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2618165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11" grpId="0"/>
      <p:bldP spid="13" grpId="0"/>
      <p:bldP spid="14" grpId="0"/>
      <p:bldP spid="1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743D4928-62EE-0272-FD6C-E78570E62A06}"/>
              </a:ext>
            </a:extLst>
          </p:cNvPr>
          <p:cNvSpPr txBox="1"/>
          <p:nvPr/>
        </p:nvSpPr>
        <p:spPr>
          <a:xfrm>
            <a:off x="3537044" y="1632214"/>
            <a:ext cx="511791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306"/>
              </a:spcBef>
              <a:spcAft>
                <a:spcPts val="1742"/>
              </a:spcAft>
            </a:pPr>
            <a:r>
              <a:rPr lang="fr-FR" sz="5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ckwell Extra Bold" panose="02060903040505020403" pitchFamily="18" charset="0"/>
              </a:rPr>
              <a:t>Conclusion</a:t>
            </a:r>
            <a:endParaRPr lang="fr-FR" sz="5400" b="0" i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Rockwell Extra Bold" panose="02060903040505020403" pitchFamily="18" charset="0"/>
            </a:endParaRPr>
          </a:p>
        </p:txBody>
      </p:sp>
      <p:sp>
        <p:nvSpPr>
          <p:cNvPr id="5" name="Hexagone 4">
            <a:extLst>
              <a:ext uri="{FF2B5EF4-FFF2-40B4-BE49-F238E27FC236}">
                <a16:creationId xmlns:a16="http://schemas.microsoft.com/office/drawing/2014/main" id="{8209D5E2-32EC-7125-C23F-44E97CBB219D}"/>
              </a:ext>
            </a:extLst>
          </p:cNvPr>
          <p:cNvSpPr/>
          <p:nvPr/>
        </p:nvSpPr>
        <p:spPr>
          <a:xfrm>
            <a:off x="11225116" y="6118369"/>
            <a:ext cx="836255" cy="638115"/>
          </a:xfrm>
          <a:prstGeom prst="hexagon">
            <a:avLst>
              <a:gd name="adj" fmla="val 35694"/>
              <a:gd name="vf" fmla="val 11547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/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2751692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A3112-0A48-AD80-B1AF-5D48B890E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3EFBA1BC-FE5B-2407-3761-9336458CA027}"/>
              </a:ext>
            </a:extLst>
          </p:cNvPr>
          <p:cNvSpPr txBox="1"/>
          <p:nvPr/>
        </p:nvSpPr>
        <p:spPr>
          <a:xfrm>
            <a:off x="453946" y="703764"/>
            <a:ext cx="922793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306"/>
              </a:spcBef>
              <a:spcAft>
                <a:spcPts val="1742"/>
              </a:spcAft>
            </a:pPr>
            <a:r>
              <a:rPr lang="fr-FR" sz="4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ckwell Extra Bold" panose="02060903040505020403" pitchFamily="18" charset="0"/>
              </a:rPr>
              <a:t>Sources et Références</a:t>
            </a:r>
            <a:endParaRPr lang="fr-FR" sz="4800" b="0" i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Rockwell Extra Bold" panose="02060903040505020403" pitchFamily="18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6FE560A9-3C48-F3A3-B807-728A5CA447F9}"/>
              </a:ext>
            </a:extLst>
          </p:cNvPr>
          <p:cNvSpPr txBox="1"/>
          <p:nvPr/>
        </p:nvSpPr>
        <p:spPr>
          <a:xfrm>
            <a:off x="307041" y="1833753"/>
            <a:ext cx="11577918" cy="6099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fr-FR" sz="2000" b="1" dirty="0">
                <a:solidFill>
                  <a:schemeClr val="bg1"/>
                </a:solidFill>
              </a:rPr>
              <a:t>Ce projet a été réalisé à partir des fichiers et supports fournis dans les Travaux Pratiques, </a:t>
            </a:r>
          </a:p>
        </p:txBody>
      </p:sp>
    </p:spTree>
    <p:extLst>
      <p:ext uri="{BB962C8B-B14F-4D97-AF65-F5344CB8AC3E}">
        <p14:creationId xmlns:p14="http://schemas.microsoft.com/office/powerpoint/2010/main" val="2893491733"/>
      </p:ext>
    </p:extLst>
  </p:cSld>
  <p:clrMapOvr>
    <a:masterClrMapping/>
  </p:clrMapOvr>
</p:sld>
</file>

<file path=ppt/theme/theme1.xml><?xml version="1.0" encoding="utf-8"?>
<a:theme xmlns:a="http://schemas.openxmlformats.org/drawingml/2006/main" name="Secteur">
  <a:themeElements>
    <a:clrScheme name="Vert jaune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Secteur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ecteur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1554</TotalTime>
  <Words>1073</Words>
  <Application>Microsoft Office PowerPoint</Application>
  <PresentationFormat>Grand écran</PresentationFormat>
  <Paragraphs>162</Paragraphs>
  <Slides>23</Slides>
  <Notes>23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23</vt:i4>
      </vt:variant>
    </vt:vector>
  </HeadingPairs>
  <TitlesOfParts>
    <vt:vector size="32" baseType="lpstr">
      <vt:lpstr>Arial</vt:lpstr>
      <vt:lpstr>Calibri</vt:lpstr>
      <vt:lpstr>Century Gothic</vt:lpstr>
      <vt:lpstr>Rockwell Extra Bold</vt:lpstr>
      <vt:lpstr>Snap ITC</vt:lpstr>
      <vt:lpstr>system-ui</vt:lpstr>
      <vt:lpstr>Wingdings</vt:lpstr>
      <vt:lpstr>Wingdings 3</vt:lpstr>
      <vt:lpstr>Secteur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Abdeldjalil KABOU</dc:creator>
  <cp:lastModifiedBy>Abdeldjalil KABOU</cp:lastModifiedBy>
  <cp:revision>48</cp:revision>
  <dcterms:created xsi:type="dcterms:W3CDTF">2025-05-12T08:43:01Z</dcterms:created>
  <dcterms:modified xsi:type="dcterms:W3CDTF">2025-10-10T21:08:16Z</dcterms:modified>
</cp:coreProperties>
</file>